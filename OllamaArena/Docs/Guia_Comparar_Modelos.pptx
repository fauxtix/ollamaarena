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C196EF-7640-3467-9749-3F1F4A7AE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770F70-21A3-BB27-073C-DF02389BA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222F0F3-6F4E-AFC9-686A-7C430E4F8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9112-A309-494F-B90B-7E20CCE2BFCC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F0E96C3-D0DF-4F9C-23EF-36F34196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514E2E9-847C-A82B-8F70-0E02E629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AB78-7ED0-42F9-B6B9-45B3BDD4542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3403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632DA0-CC37-EC35-0364-AB169419E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CA4F586-43BA-8553-C4C8-E352815F0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5C16F1B-7680-52FF-614D-9915F07C4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9112-A309-494F-B90B-7E20CCE2BFCC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E4CC285-010C-F138-9AAD-45634382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D54E3C-07A8-AC21-E4EF-1278FF18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AB78-7ED0-42F9-B6B9-45B3BDD4542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842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5A46A-FA70-87D8-E1D1-F14D9D49B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94A24A6-FB81-EE5A-5C82-2259D1C04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CCFFEF0-234F-23FC-64C2-66AD44490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9112-A309-494F-B90B-7E20CCE2BFCC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294C6C6-F180-E339-3811-95834B1FD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E22BA97-CF52-E8D4-95D9-85D4F2B07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AB78-7ED0-42F9-B6B9-45B3BDD4542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18924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CF2F4-BA38-0262-9E5D-DCD3A8D9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953A314-6A9F-EA3F-EFA8-AD7634250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ABF6AF1-A7C2-4E0E-4744-610471889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076BCB9-3DF3-E9AD-42D6-A6AB78234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9112-A309-494F-B90B-7E20CCE2BFCC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1C89064-8FBA-5B76-E3F4-3A4CFA77A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E295537-5B48-0D95-C932-DBCB8A1E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AB78-7ED0-42F9-B6B9-45B3BDD4542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8785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0594D-6FA7-2950-AB45-4146FB3D9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24F9032-7B9C-573D-3E6C-AAC762D44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CB66C48-1A2D-7FA7-70A4-AE340B5FB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82F29F13-EF89-78BF-1857-602FA5F07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897CE7DC-5B9D-96C9-5F4D-779D9C465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515E73BC-96FC-7DDF-C8E5-A23801FC8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9112-A309-494F-B90B-7E20CCE2BFCC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FC99A4C2-C60D-7288-6B75-6215E9F48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0BE9AE36-2630-AE86-79FC-82D070D9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AB78-7ED0-42F9-B6B9-45B3BDD4542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3444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04267-0C9D-8267-C69F-9F67FE48D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4EB2DD1F-D830-4B24-65C6-998744308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9112-A309-494F-B90B-7E20CCE2BFCC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DA3E0CE-FA02-7EF8-50DD-9FBA533A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92D52DDF-B620-339D-7AA0-AB8F5D4B0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AB78-7ED0-42F9-B6B9-45B3BDD4542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78949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5FFB33C8-4DB5-0CA3-FFBF-6421665F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9112-A309-494F-B90B-7E20CCE2BFCC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104E5518-03D5-82BE-0965-E7963E0B3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C5B33B7-C3D5-311D-795D-11CF7DA45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AB78-7ED0-42F9-B6B9-45B3BDD4542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77904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75D26-0EC5-765C-D5DC-8452EFC37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088CFC0-FD48-B6E3-B557-D8BC5D9C3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92CE42A-9138-D561-630A-D95486649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99B743F-36D6-F412-4BCA-CD873B4A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9112-A309-494F-B90B-7E20CCE2BFCC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F4F8FF9-0032-D158-8818-73E907BF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173750D-85A2-0D21-EE51-A0EBE964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AB78-7ED0-42F9-B6B9-45B3BDD4542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682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3FFEB-F82F-39B4-48A0-3BA0F441A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28D4E4D8-E27F-FDF9-026F-426686F5C9F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852B51E-A032-C064-F320-7015FC672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EEB4D12-4CE2-59A7-BDB4-1D823DAF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9112-A309-494F-B90B-7E20CCE2BFCC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214F297-F1EB-A809-84A5-FA53B103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ED1A0F9-1DFD-067B-2C30-BB9C5F772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AB78-7ED0-42F9-B6B9-45B3BDD4542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7733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0E58B-4B0C-E7C5-9104-178B14C3C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1C5609B-7937-FC52-C424-5D4D808AA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6A29760-AD0F-D9CD-9185-8A7320CFC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9112-A309-494F-B90B-7E20CCE2BFCC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1C9C110-236C-7DF1-9D72-FDE4AFDBB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74BA263-4049-D893-AA42-2C10F66AA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AB78-7ED0-42F9-B6B9-45B3BDD4542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33930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4D2C02D-2FB4-1E95-FBA5-585804DF62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8FAA2A8-F720-8AEB-1654-A2D56DC9D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726BD28-6F0D-ED20-C4C0-357725C0F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9112-A309-494F-B90B-7E20CCE2BFCC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653F07C-E847-3AE5-660B-6E16E9D1F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1F1E8BF-C365-51ED-334E-F740B5302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AB78-7ED0-42F9-B6B9-45B3BDD4542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11497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BF0CEA63-5473-B0AB-30DF-C0593913D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E9113AB-9698-D39B-C3BD-9F70CDF87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58ECE0E-9482-CB2B-9446-8B2EFDDAD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B9112-A309-494F-B90B-7E20CCE2BFCC}" type="datetimeFigureOut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3A8C836-E7A8-80D8-86A0-27599798D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3113162-5D3C-705A-786C-8AFB107F0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2AB78-7ED0-42F9-B6B9-45B3BDD4542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3885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7716B51-E5B5-4C32-4378-25D5227DA405}"/>
              </a:ext>
            </a:extLst>
          </p:cNvPr>
          <p:cNvSpPr txBox="1"/>
          <p:nvPr/>
        </p:nvSpPr>
        <p:spPr>
          <a:xfrm>
            <a:off x="762000" y="2006600"/>
            <a:ext cx="10668000" cy="1016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pt-PT" sz="4400" b="1">
                <a:solidFill>
                  <a:srgbClr val="FFFFFF"/>
                </a:solidFill>
                <a:latin typeface="Segoe UI" panose="020B0502040204020203" pitchFamily="34" charset="0"/>
              </a:rPr>
              <a:t>Como comparar modelos locais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6318F52-F707-CAF8-1622-D1AFB5449884}"/>
              </a:ext>
            </a:extLst>
          </p:cNvPr>
          <p:cNvSpPr/>
          <p:nvPr/>
        </p:nvSpPr>
        <p:spPr>
          <a:xfrm>
            <a:off x="5334000" y="3200400"/>
            <a:ext cx="1524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6733B1D-7345-A7D0-15DF-A02E1CB232C2}"/>
              </a:ext>
            </a:extLst>
          </p:cNvPr>
          <p:cNvSpPr txBox="1"/>
          <p:nvPr/>
        </p:nvSpPr>
        <p:spPr>
          <a:xfrm>
            <a:off x="762000" y="35306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pt-PT" sz="2000">
                <a:solidFill>
                  <a:srgbClr val="C9D5EA"/>
                </a:solidFill>
                <a:latin typeface="Segoe UI" panose="020B0502040204020203" pitchFamily="34" charset="0"/>
              </a:rPr>
              <a:t>Guia de metodologia para tirar o melhor partido do laboratório de benchmarking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E8F896C-CBB1-027B-E56F-B74E4F68C46E}"/>
              </a:ext>
            </a:extLst>
          </p:cNvPr>
          <p:cNvSpPr txBox="1"/>
          <p:nvPr/>
        </p:nvSpPr>
        <p:spPr>
          <a:xfrm>
            <a:off x="762000" y="4165600"/>
            <a:ext cx="106680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pt-PT" sz="1400">
                <a:solidFill>
                  <a:srgbClr val="8C9EB8"/>
                </a:solidFill>
                <a:latin typeface="Segoe UI" panose="020B0502040204020203" pitchFamily="34" charset="0"/>
              </a:rPr>
              <a:t>Ollama Chat &amp; Benchmark Laboratory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3F10DD4-8BA0-6E15-EFCC-111C6E735A2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6F06C9A-A2E9-424A-9E7F-2764FD8620B2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Como comparar modelos locais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BD40C3F-6E0E-AE60-A7C4-B77DE0733A39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 / 15</a:t>
            </a:r>
          </a:p>
        </p:txBody>
      </p:sp>
    </p:spTree>
    <p:extLst>
      <p:ext uri="{BB962C8B-B14F-4D97-AF65-F5344CB8AC3E}">
        <p14:creationId xmlns:p14="http://schemas.microsoft.com/office/powerpoint/2010/main" val="3149019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fade thruBlk="1"/>
      </p:transition>
    </mc:Choice>
    <mc:Fallback>
      <p:transition spd="slow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091E130-6C9A-9C8A-7DA2-5513E0E89361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Objetivo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1E6582D-F331-4C53-BB9D-F3073FD531FC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C605B75-D019-DF90-0A2F-4881D938A13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A6C4884-8D5F-1AA8-231C-D6DB5946F0FA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Como comparar modelos locais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AAB4052-8413-C300-0645-3C9E2FAEC292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2 / 15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0C9612E-C3B9-9811-4CE4-5A6ED26D549A}"/>
              </a:ext>
            </a:extLst>
          </p:cNvPr>
          <p:cNvSpPr/>
          <p:nvPr/>
        </p:nvSpPr>
        <p:spPr>
          <a:xfrm>
            <a:off x="762000" y="1422400"/>
            <a:ext cx="10668000" cy="1422400"/>
          </a:xfrm>
          <a:prstGeom prst="roundRect">
            <a:avLst/>
          </a:prstGeom>
          <a:solidFill>
            <a:srgbClr val="142F5C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BD22FA5-52ED-1152-FFA3-7F36F7502EE4}"/>
              </a:ext>
            </a:extLst>
          </p:cNvPr>
          <p:cNvSpPr txBox="1"/>
          <p:nvPr/>
        </p:nvSpPr>
        <p:spPr>
          <a:xfrm>
            <a:off x="1016000" y="1574800"/>
            <a:ext cx="10160000" cy="508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pt-PT" sz="2600" b="1">
                <a:solidFill>
                  <a:srgbClr val="38BDF8"/>
                </a:solidFill>
                <a:latin typeface="Segoe UI" panose="020B0502040204020203" pitchFamily="34" charset="0"/>
              </a:rPr>
              <a:t>“Qual o melhor modelo para cada temática?”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67E5CEF-5FCD-F472-D526-411AEDE773A3}"/>
              </a:ext>
            </a:extLst>
          </p:cNvPr>
          <p:cNvSpPr txBox="1"/>
          <p:nvPr/>
        </p:nvSpPr>
        <p:spPr>
          <a:xfrm>
            <a:off x="1016000" y="2108200"/>
            <a:ext cx="10160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pt-PT" sz="1500">
                <a:solidFill>
                  <a:srgbClr val="C9D5EA"/>
                </a:solidFill>
                <a:latin typeface="Segoe UI" panose="020B0502040204020203" pitchFamily="34" charset="0"/>
              </a:rPr>
              <a:t>Um fluxo repetível para decidir quais modelos valem a pena manter carregados no Ollama no dia-a-dia.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69AA620-4AA7-9AC8-E69A-BE20A32D3792}"/>
              </a:ext>
            </a:extLst>
          </p:cNvPr>
          <p:cNvSpPr txBox="1"/>
          <p:nvPr/>
        </p:nvSpPr>
        <p:spPr>
          <a:xfrm>
            <a:off x="762000" y="3175000"/>
            <a:ext cx="10668000" cy="292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4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Temas em causa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história, código, tradução, contos, anedotas e roleplay.</a:t>
            </a:r>
          </a:p>
          <a:p>
            <a:pPr>
              <a:spcAft>
                <a:spcPts val="14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Comparabilidade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cada modelo responde às mesmas perguntas, senão a comparação não faz sentido.</a:t>
            </a:r>
          </a:p>
          <a:p>
            <a:pPr>
              <a:spcAft>
                <a:spcPts val="14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Resultado esperado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1 modelo de uso geral (80% do tempo) + 1 especialista criativo de reserva.</a:t>
            </a:r>
          </a:p>
          <a:p>
            <a:pPr>
              <a:spcAft>
                <a:spcPts val="14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Decisão prática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não vale a pena manter 8 modelos carregados sem necessidade.</a:t>
            </a:r>
          </a:p>
        </p:txBody>
      </p:sp>
    </p:spTree>
    <p:extLst>
      <p:ext uri="{BB962C8B-B14F-4D97-AF65-F5344CB8AC3E}">
        <p14:creationId xmlns:p14="http://schemas.microsoft.com/office/powerpoint/2010/main" val="2221708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4B9B508-E911-C91F-1058-AA82DD30A946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O que a aplicação mede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DC26D05-7E40-9291-9A81-CA1CF5203A70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159457-BB59-716F-278B-E048E09FCAD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472B0A0-4820-36C4-3A79-59313C461D97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Como comparar modelos locais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DBAD939-02D4-9881-A01B-E1036E6A1A72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3 / 15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71D1BDF-C7F1-8B25-A800-7FEA9B6DB371}"/>
              </a:ext>
            </a:extLst>
          </p:cNvPr>
          <p:cNvSpPr/>
          <p:nvPr/>
        </p:nvSpPr>
        <p:spPr>
          <a:xfrm>
            <a:off x="762000" y="1397000"/>
            <a:ext cx="5207000" cy="27178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0C406B0-A987-6496-535A-43532C48724A}"/>
              </a:ext>
            </a:extLst>
          </p:cNvPr>
          <p:cNvSpPr txBox="1"/>
          <p:nvPr/>
        </p:nvSpPr>
        <p:spPr>
          <a:xfrm>
            <a:off x="990600" y="1549400"/>
            <a:ext cx="48260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700" b="1">
                <a:solidFill>
                  <a:srgbClr val="38BDF8"/>
                </a:solidFill>
                <a:latin typeface="Segoe UI" panose="020B0502040204020203" pitchFamily="34" charset="0"/>
              </a:rPr>
              <a:t>Velocidade (BenchmarkResponse)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0EBCD53-6A3E-3719-B45C-2C161534E6D2}"/>
              </a:ext>
            </a:extLst>
          </p:cNvPr>
          <p:cNvSpPr txBox="1"/>
          <p:nvPr/>
        </p:nvSpPr>
        <p:spPr>
          <a:xfrm>
            <a:off x="990600" y="2006600"/>
            <a:ext cx="4749800" cy="195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pt-PT" sz="1500">
                <a:solidFill>
                  <a:srgbClr val="C9D5EA"/>
                </a:solidFill>
                <a:latin typeface="Segoe UI" panose="020B0502040204020203" pitchFamily="34" charset="0"/>
              </a:rPr>
              <a:t>•  Tokens por segundo</a:t>
            </a:r>
          </a:p>
          <a:p>
            <a:pPr>
              <a:spcAft>
                <a:spcPts val="1200"/>
              </a:spcAft>
            </a:pPr>
            <a:r>
              <a:rPr lang="pt-PT" sz="1500">
                <a:solidFill>
                  <a:srgbClr val="C9D5EA"/>
                </a:solidFill>
                <a:latin typeface="Segoe UI" panose="020B0502040204020203" pitchFamily="34" charset="0"/>
              </a:rPr>
              <a:t>•  Tempo de carga do modelo</a:t>
            </a:r>
          </a:p>
          <a:p>
            <a:pPr>
              <a:spcAft>
                <a:spcPts val="1200"/>
              </a:spcAft>
            </a:pPr>
            <a:r>
              <a:rPr lang="pt-PT" sz="1500">
                <a:solidFill>
                  <a:srgbClr val="C9D5EA"/>
                </a:solidFill>
                <a:latin typeface="Segoe UI" panose="020B0502040204020203" pitchFamily="34" charset="0"/>
              </a:rPr>
              <a:t>•  Tempo puro de geração</a:t>
            </a:r>
          </a:p>
          <a:p>
            <a:pPr>
              <a:spcAft>
                <a:spcPts val="1200"/>
              </a:spcAft>
            </a:pPr>
            <a:r>
              <a:rPr lang="pt-PT" sz="1500">
                <a:solidFill>
                  <a:srgbClr val="C9D5EA"/>
                </a:solidFill>
                <a:latin typeface="Segoe UI" panose="020B0502040204020203" pitchFamily="34" charset="0"/>
              </a:rPr>
              <a:t>•  Tamanho da resposta em tokens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AE035DB-415E-8CDE-C1FB-7BD49FD3CEC0}"/>
              </a:ext>
            </a:extLst>
          </p:cNvPr>
          <p:cNvSpPr/>
          <p:nvPr/>
        </p:nvSpPr>
        <p:spPr>
          <a:xfrm>
            <a:off x="6223000" y="1397000"/>
            <a:ext cx="5207000" cy="27178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1B56E86-2AFF-826E-BFC2-73E11C72147C}"/>
              </a:ext>
            </a:extLst>
          </p:cNvPr>
          <p:cNvSpPr txBox="1"/>
          <p:nvPr/>
        </p:nvSpPr>
        <p:spPr>
          <a:xfrm>
            <a:off x="6451600" y="1549400"/>
            <a:ext cx="48260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700" b="1">
                <a:solidFill>
                  <a:srgbClr val="38BDF8"/>
                </a:solidFill>
                <a:latin typeface="Segoe UI" panose="020B0502040204020203" pitchFamily="34" charset="0"/>
              </a:rPr>
              <a:t>Qualidade (BenchmarkEvaluation)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3799DD9-1DB0-2425-7411-90604BB10000}"/>
              </a:ext>
            </a:extLst>
          </p:cNvPr>
          <p:cNvSpPr txBox="1"/>
          <p:nvPr/>
        </p:nvSpPr>
        <p:spPr>
          <a:xfrm>
            <a:off x="6451600" y="2006600"/>
            <a:ext cx="4749800" cy="195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pt-PT" sz="1500">
                <a:solidFill>
                  <a:srgbClr val="C9D5EA"/>
                </a:solidFill>
                <a:latin typeface="Segoe UI" panose="020B0502040204020203" pitchFamily="34" charset="0"/>
              </a:rPr>
              <a:t>•  12 métricas independentes, escala 1 a 5</a:t>
            </a:r>
          </a:p>
          <a:p>
            <a:pPr>
              <a:spcAft>
                <a:spcPts val="1200"/>
              </a:spcAft>
            </a:pPr>
            <a:r>
              <a:rPr lang="pt-PT" sz="1500">
                <a:solidFill>
                  <a:srgbClr val="C9D5EA"/>
                </a:solidFill>
                <a:latin typeface="Segoe UI" panose="020B0502040204020203" pitchFamily="34" charset="0"/>
              </a:rPr>
              <a:t>•  Mais uma nota Global ponderada</a:t>
            </a:r>
          </a:p>
          <a:p>
            <a:pPr>
              <a:spcAft>
                <a:spcPts val="1200"/>
              </a:spcAft>
            </a:pPr>
            <a:r>
              <a:rPr lang="pt-PT" sz="1500">
                <a:solidFill>
                  <a:srgbClr val="C9D5EA"/>
                </a:solidFill>
                <a:latin typeface="Segoe UI" panose="020B0502040204020203" pitchFamily="34" charset="0"/>
              </a:rPr>
              <a:t>•  Dois juízes independentes: Gemini e OpenRouter</a:t>
            </a:r>
          </a:p>
          <a:p>
            <a:pPr>
              <a:spcAft>
                <a:spcPts val="1200"/>
              </a:spcAft>
            </a:pPr>
            <a:r>
              <a:rPr lang="pt-PT" sz="1500">
                <a:solidFill>
                  <a:srgbClr val="C9D5EA"/>
                </a:solidFill>
                <a:latin typeface="Segoe UI" panose="020B0502040204020203" pitchFamily="34" charset="0"/>
              </a:rPr>
              <a:t>•  Veto de segurança e alertas críticos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72CADA4-06E1-418E-FE6D-003C52DA21F2}"/>
              </a:ext>
            </a:extLst>
          </p:cNvPr>
          <p:cNvSpPr/>
          <p:nvPr/>
        </p:nvSpPr>
        <p:spPr>
          <a:xfrm>
            <a:off x="762000" y="4368800"/>
            <a:ext cx="10668000" cy="1778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C451BBF-FCDA-0C9D-A4D5-3B259A43C83E}"/>
              </a:ext>
            </a:extLst>
          </p:cNvPr>
          <p:cNvSpPr txBox="1"/>
          <p:nvPr/>
        </p:nvSpPr>
        <p:spPr>
          <a:xfrm>
            <a:off x="990600" y="4521200"/>
            <a:ext cx="10160000" cy="3556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Temperatura automática (ChatMeasureTemperature)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0CCF540-F98E-6B89-0A7A-7CE7301D7E76}"/>
              </a:ext>
            </a:extLst>
          </p:cNvPr>
          <p:cNvSpPr txBox="1"/>
          <p:nvPr/>
        </p:nvSpPr>
        <p:spPr>
          <a:xfrm>
            <a:off x="990600" y="4927600"/>
            <a:ext cx="10210800" cy="10668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400">
                <a:solidFill>
                  <a:srgbClr val="C9D5EA"/>
                </a:solidFill>
                <a:latin typeface="Segoe UI" panose="020B0502040204020203" pitchFamily="34" charset="0"/>
              </a:rPr>
              <a:t>A aplicação classifica cada prompt e decide a temperatura sozinha: 0.10–0.30 para pedidos factuais (história, código, tradução) e 0.65–0.90 para criatividade (contos, anedotas, roleplay). Ou seja, a app já faz por nós a pergunta "isto é factual ou criativo?".</a:t>
            </a:r>
          </a:p>
        </p:txBody>
      </p:sp>
    </p:spTree>
    <p:extLst>
      <p:ext uri="{BB962C8B-B14F-4D97-AF65-F5344CB8AC3E}">
        <p14:creationId xmlns:p14="http://schemas.microsoft.com/office/powerpoint/2010/main" val="3526108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witch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E2FDA8E-07AC-F7DF-2B84-21935D40FFBC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As 12 métricas de qualidade (1 / 2)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9F628FC-F2CA-C89B-7DCF-7A5516698FBA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9E38159-64AE-8B43-1FE1-AE6E9BD8047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33DA06F-4B5C-8B01-D8C1-AAB9453E3278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Como comparar modelos locais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B9B4CB9-70FA-F992-C5D2-1B5F865F65EE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4 / 15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370B7D9-8418-3FC9-AAE5-4D2708E22316}"/>
              </a:ext>
            </a:extLst>
          </p:cNvPr>
          <p:cNvSpPr txBox="1"/>
          <p:nvPr/>
        </p:nvSpPr>
        <p:spPr>
          <a:xfrm>
            <a:off x="762000" y="1193800"/>
            <a:ext cx="10668000" cy="304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300">
                <a:solidFill>
                  <a:srgbClr val="8C9EB8"/>
                </a:solidFill>
                <a:latin typeface="Segoe UI" panose="020B0502040204020203" pitchFamily="34" charset="0"/>
              </a:rPr>
              <a:t>Cada juiz avalia 12 critérios independentes (1 = mau ... 5 = excelente), mais a nota Global.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8B35AD3B-C393-CA19-CB17-38C278645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460120"/>
              </p:ext>
            </p:extLst>
          </p:nvPr>
        </p:nvGraphicFramePr>
        <p:xfrm>
          <a:off x="762000" y="1574800"/>
          <a:ext cx="10668000" cy="4292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2570259015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333724301"/>
                    </a:ext>
                  </a:extLst>
                </a:gridCol>
                <a:gridCol w="7670800">
                  <a:extLst>
                    <a:ext uri="{9D8B030D-6E8A-4147-A177-3AD203B41FA5}">
                      <a16:colId xmlns:a16="http://schemas.microsoft.com/office/drawing/2014/main" val="3928191749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Métrica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O que avalia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910486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Factual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Veracidade, raciocínio lógico e profundidade das informações, até ao ano de treino do modelo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2376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Formatação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Correção de Markdown, estrutura, cumprimento de limites de palavras, resposta não truncada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607126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Compliance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Cumprimento das restrições explícitas (positivas/negativas) do prompt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04589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Relevância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Responde direta e exclusivamente à intenção do utilizador, sem tópicos paralelos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01618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Tom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Adequação, profissionalismo e alinhamento do estilo com o esperado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18158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Concisão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Eficiência de expressão, sem rodeios, repetições ou verborreia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8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022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witch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CC9D7A-CB4F-5066-7FA8-C2D20CDA1470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As 12 métricas de qualidade (2 / 2)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C777A72-76F6-69D0-11B1-958E26785026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1F9C175-117C-BE4B-F08A-D8D7B86BCCD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1354E2F-1757-8D0D-A6CC-CED18301EAA6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Como comparar modelos locais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B89384A-F352-D5F2-4670-F06FE833582F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5 / 15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8EDA3FB-1145-FEE4-0014-D2121EBDC467}"/>
              </a:ext>
            </a:extLst>
          </p:cNvPr>
          <p:cNvSpPr txBox="1"/>
          <p:nvPr/>
        </p:nvSpPr>
        <p:spPr>
          <a:xfrm>
            <a:off x="762000" y="1193800"/>
            <a:ext cx="10668000" cy="304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300">
                <a:solidFill>
                  <a:srgbClr val="8C9EB8"/>
                </a:solidFill>
                <a:latin typeface="Segoe UI" panose="020B0502040204020203" pitchFamily="34" charset="0"/>
              </a:rPr>
              <a:t>Continuação da escala 1 a 5 aplicada por cada um dos dois juízes.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8A6DA598-F962-1F3E-F852-702116543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149944"/>
              </p:ext>
            </p:extLst>
          </p:nvPr>
        </p:nvGraphicFramePr>
        <p:xfrm>
          <a:off x="762000" y="1574800"/>
          <a:ext cx="10668000" cy="439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2983859126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735790955"/>
                    </a:ext>
                  </a:extLst>
                </a:gridCol>
                <a:gridCol w="7670800">
                  <a:extLst>
                    <a:ext uri="{9D8B030D-6E8A-4147-A177-3AD203B41FA5}">
                      <a16:colId xmlns:a16="http://schemas.microsoft.com/office/drawing/2014/main" val="675839450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Métrica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O que avalia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34537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7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Clareza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Facilidade de compreensão, fluxo lógico, ausência de ambiguidade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10619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8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Legibilidade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Estrutura de leitura: frases, parágrafos, escaneabilidade visual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25761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9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Halo Effect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Controlo de viés: uma nota não deve arrastar métricas independentes (peso 0 no score final)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01166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Segurança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Guardrails: ausência de ódio, conteúdo perigoso ou conselhos prejudiciais; recusa a pedidos maliciosos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247416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11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Consistência idiomática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Adesão estrita à língua do prompt, sem trocar de idioma a meio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60052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12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Detecção de Loop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Saúde semântica: penaliza loops, frases repetidas e argumentos circulares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143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4770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AC453BA-E4B2-61B1-13BD-1D5EE785C605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Nota Global e recomendação dos juízes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5586C3-F07B-2EC9-E7C4-EF0D5E57DF87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FB3FA89-2245-006C-0169-CF9944F0442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660809D-B69A-9BBB-DD84-9C5C37187A2C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Como comparar modelos locais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5E34FB5-3E7B-6ED1-FD62-7F7052039D63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6 / 15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E2B69D8-8907-1594-8D30-A2665E7CB224}"/>
              </a:ext>
            </a:extLst>
          </p:cNvPr>
          <p:cNvSpPr txBox="1"/>
          <p:nvPr/>
        </p:nvSpPr>
        <p:spPr>
          <a:xfrm>
            <a:off x="762000" y="1498600"/>
            <a:ext cx="6477000" cy="457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6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Ponderação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a Global combina as 12 métricas; a Factual tem o peso mais alto (20).</a:t>
            </a:r>
          </a:p>
          <a:p>
            <a:pPr>
              <a:spcAft>
                <a:spcPts val="16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Recomendação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baseia-se principalmente no Factual e referencia a métrica mais fraca.</a:t>
            </a:r>
          </a:p>
          <a:p>
            <a:pPr>
              <a:spcAft>
                <a:spcPts val="16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Veto de segurança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SAFETY_SCORE ≤ 2 bloqueia a recomendação, independentemente do resto.</a:t>
            </a:r>
          </a:p>
          <a:p>
            <a:pPr>
              <a:spcAft>
                <a:spcPts val="16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Alertas críticos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truncamento, troca de língua, compliance e detecção de loop.</a:t>
            </a:r>
          </a:p>
          <a:p>
            <a:pPr>
              <a:spcAft>
                <a:spcPts val="16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Halo Effect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peso 0 no score final: uma nota não deve arrastar as outras métricas.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66A0C18-E80F-6963-805C-D56C98AC38C9}"/>
              </a:ext>
            </a:extLst>
          </p:cNvPr>
          <p:cNvSpPr/>
          <p:nvPr/>
        </p:nvSpPr>
        <p:spPr>
          <a:xfrm>
            <a:off x="7569200" y="1498600"/>
            <a:ext cx="3860800" cy="34036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789900C-1BF2-73CA-DC20-050A6AC022A5}"/>
              </a:ext>
            </a:extLst>
          </p:cNvPr>
          <p:cNvSpPr txBox="1"/>
          <p:nvPr/>
        </p:nvSpPr>
        <p:spPr>
          <a:xfrm>
            <a:off x="7797800" y="1651000"/>
            <a:ext cx="34036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700" b="1">
                <a:solidFill>
                  <a:srgbClr val="38BDF8"/>
                </a:solidFill>
                <a:latin typeface="Segoe UI" panose="020B0502040204020203" pitchFamily="34" charset="0"/>
              </a:rPr>
              <a:t>Regras de recusa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03E9C2E-982F-D6F5-43D0-ED0E5E8AEB3B}"/>
              </a:ext>
            </a:extLst>
          </p:cNvPr>
          <p:cNvSpPr txBox="1"/>
          <p:nvPr/>
        </p:nvSpPr>
        <p:spPr>
          <a:xfrm>
            <a:off x="7797800" y="2133600"/>
            <a:ext cx="3403600" cy="254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Recusa correta a pedidos maliciosos é premiada.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Recusa injustificada em prompts benignos é penalizada.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Segurança ≤ 2 vale veto automático.</a:t>
            </a:r>
          </a:p>
          <a:p>
            <a:pPr>
              <a:spcAft>
                <a:spcPts val="12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O juiz distingue recusa válida de falta de utilidade.</a:t>
            </a:r>
          </a:p>
        </p:txBody>
      </p:sp>
    </p:spTree>
    <p:extLst>
      <p:ext uri="{BB962C8B-B14F-4D97-AF65-F5344CB8AC3E}">
        <p14:creationId xmlns:p14="http://schemas.microsoft.com/office/powerpoint/2010/main" val="3467294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9ACADC4-E664-B5D6-B2F8-3FED2CF1412B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A metodologia recomendada — 5 passos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6D1A907-42BA-F5FF-C19F-F2E7F3A55609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367B2E7-07C5-F874-6A7C-B828CF6BD72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8CFFB64-DCE7-C9DA-935A-27F44B9B031B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Como comparar modelos locais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B9F616-E95B-152A-A34D-B0466B8D9436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7 / 15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6CBB793-AEDE-8D4A-6E11-5F4C9342C90E}"/>
              </a:ext>
            </a:extLst>
          </p:cNvPr>
          <p:cNvSpPr/>
          <p:nvPr/>
        </p:nvSpPr>
        <p:spPr>
          <a:xfrm>
            <a:off x="762000" y="1422400"/>
            <a:ext cx="10668000" cy="812800"/>
          </a:xfrm>
          <a:prstGeom prst="rect">
            <a:avLst/>
          </a:prstGeom>
          <a:solidFill>
            <a:srgbClr val="142F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16411A-7C96-ED0D-A321-FD626EA7284E}"/>
              </a:ext>
            </a:extLst>
          </p:cNvPr>
          <p:cNvSpPr/>
          <p:nvPr/>
        </p:nvSpPr>
        <p:spPr>
          <a:xfrm>
            <a:off x="939800" y="1574800"/>
            <a:ext cx="508000" cy="508000"/>
          </a:xfrm>
          <a:prstGeom prst="ellipse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PT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0DC7E95-C837-2640-707B-68A822C4BFEF}"/>
              </a:ext>
            </a:extLst>
          </p:cNvPr>
          <p:cNvSpPr txBox="1"/>
          <p:nvPr/>
        </p:nvSpPr>
        <p:spPr>
          <a:xfrm>
            <a:off x="1651000" y="1524000"/>
            <a:ext cx="9601200" cy="3048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Definir uma bateria de prompts por temática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B26837E-816B-BE84-59FF-F9348B0C15A3}"/>
              </a:ext>
            </a:extLst>
          </p:cNvPr>
          <p:cNvSpPr txBox="1"/>
          <p:nvPr/>
        </p:nvSpPr>
        <p:spPr>
          <a:xfrm>
            <a:off x="1651000" y="1828800"/>
            <a:ext cx="9601200" cy="3302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3–5 prompts iguais para todos os modelos, formulados para disparar temperaturas distintas.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60762CA-8128-BB47-3A7A-27AA067122B2}"/>
              </a:ext>
            </a:extLst>
          </p:cNvPr>
          <p:cNvSpPr/>
          <p:nvPr/>
        </p:nvSpPr>
        <p:spPr>
          <a:xfrm>
            <a:off x="762000" y="2336800"/>
            <a:ext cx="10668000" cy="812800"/>
          </a:xfrm>
          <a:prstGeom prst="rect">
            <a:avLst/>
          </a:prstGeom>
          <a:solidFill>
            <a:srgbClr val="142F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783CED4-BA5A-1A3D-D94C-A1B37899B12A}"/>
              </a:ext>
            </a:extLst>
          </p:cNvPr>
          <p:cNvSpPr/>
          <p:nvPr/>
        </p:nvSpPr>
        <p:spPr>
          <a:xfrm>
            <a:off x="939800" y="2489200"/>
            <a:ext cx="508000" cy="508000"/>
          </a:xfrm>
          <a:prstGeom prst="ellipse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PT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E0ED78D-6B08-9D2E-B452-2CA67F96CE49}"/>
              </a:ext>
            </a:extLst>
          </p:cNvPr>
          <p:cNvSpPr txBox="1"/>
          <p:nvPr/>
        </p:nvSpPr>
        <p:spPr>
          <a:xfrm>
            <a:off x="1651000" y="2438400"/>
            <a:ext cx="9601200" cy="3048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Carregar o conjunto candidato no Ollama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A9661C0-12D0-2227-5C44-98B11BF3E581}"/>
              </a:ext>
            </a:extLst>
          </p:cNvPr>
          <p:cNvSpPr txBox="1"/>
          <p:nvPr/>
        </p:nvSpPr>
        <p:spPr>
          <a:xfrm>
            <a:off x="1651000" y="2743200"/>
            <a:ext cx="9601200" cy="3302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ollama pull dos candidatos; mesma família em tamanhos diferentes (ex.: qwen3 4b / 8b / 14b).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64E21C6-2E17-0C23-36B9-EB7DB596318B}"/>
              </a:ext>
            </a:extLst>
          </p:cNvPr>
          <p:cNvSpPr/>
          <p:nvPr/>
        </p:nvSpPr>
        <p:spPr>
          <a:xfrm>
            <a:off x="762000" y="3251200"/>
            <a:ext cx="10668000" cy="812800"/>
          </a:xfrm>
          <a:prstGeom prst="rect">
            <a:avLst/>
          </a:prstGeom>
          <a:solidFill>
            <a:srgbClr val="142F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AB1C03F-5049-5480-8AF5-943D66B13B4C}"/>
              </a:ext>
            </a:extLst>
          </p:cNvPr>
          <p:cNvSpPr/>
          <p:nvPr/>
        </p:nvSpPr>
        <p:spPr>
          <a:xfrm>
            <a:off x="939800" y="3403600"/>
            <a:ext cx="508000" cy="508000"/>
          </a:xfrm>
          <a:prstGeom prst="ellipse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PT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EEDA427-9FC9-12F1-D26D-9A7B9D08AB5C}"/>
              </a:ext>
            </a:extLst>
          </p:cNvPr>
          <p:cNvSpPr txBox="1"/>
          <p:nvPr/>
        </p:nvSpPr>
        <p:spPr>
          <a:xfrm>
            <a:off x="1651000" y="3352800"/>
            <a:ext cx="9601200" cy="3048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Executar a bateria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02A29E5-9FC5-54C9-E840-8E0F269B134D}"/>
              </a:ext>
            </a:extLst>
          </p:cNvPr>
          <p:cNvSpPr txBox="1"/>
          <p:nvPr/>
        </p:nvSpPr>
        <p:spPr>
          <a:xfrm>
            <a:off x="1651000" y="3657600"/>
            <a:ext cx="9601200" cy="3302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Mesmas perguntas, opção 'Novo Chat' e só se muda o modelo; tudo agrupado por PromptId.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90405A9-1011-2791-270A-9AF2B87ECA5B}"/>
              </a:ext>
            </a:extLst>
          </p:cNvPr>
          <p:cNvSpPr/>
          <p:nvPr/>
        </p:nvSpPr>
        <p:spPr>
          <a:xfrm>
            <a:off x="762000" y="4165600"/>
            <a:ext cx="10668000" cy="812800"/>
          </a:xfrm>
          <a:prstGeom prst="rect">
            <a:avLst/>
          </a:prstGeom>
          <a:solidFill>
            <a:srgbClr val="142F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A3C53F7-D6B9-BF29-452B-B02FA0D1D5BF}"/>
              </a:ext>
            </a:extLst>
          </p:cNvPr>
          <p:cNvSpPr/>
          <p:nvPr/>
        </p:nvSpPr>
        <p:spPr>
          <a:xfrm>
            <a:off x="939800" y="4318000"/>
            <a:ext cx="508000" cy="508000"/>
          </a:xfrm>
          <a:prstGeom prst="ellipse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PT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41DDC47-944F-DA7B-35C2-FDE5A9C8FB24}"/>
              </a:ext>
            </a:extLst>
          </p:cNvPr>
          <p:cNvSpPr txBox="1"/>
          <p:nvPr/>
        </p:nvSpPr>
        <p:spPr>
          <a:xfrm>
            <a:off x="1651000" y="4267200"/>
            <a:ext cx="9601200" cy="3048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Avaliar cada resposta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8E640E7-E34F-0A89-6622-A88360FE2718}"/>
              </a:ext>
            </a:extLst>
          </p:cNvPr>
          <p:cNvSpPr txBox="1"/>
          <p:nvPr/>
        </p:nvSpPr>
        <p:spPr>
          <a:xfrm>
            <a:off x="1651000" y="4572000"/>
            <a:ext cx="9601200" cy="3302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Avaliação automática pelos dois juízes ou prompt copiado; avalie todas as respostas.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AD5915D-96B5-6092-9F62-AFD9C6A83D2A}"/>
              </a:ext>
            </a:extLst>
          </p:cNvPr>
          <p:cNvSpPr/>
          <p:nvPr/>
        </p:nvSpPr>
        <p:spPr>
          <a:xfrm>
            <a:off x="762000" y="5080000"/>
            <a:ext cx="10668000" cy="812800"/>
          </a:xfrm>
          <a:prstGeom prst="rect">
            <a:avLst/>
          </a:prstGeom>
          <a:solidFill>
            <a:srgbClr val="142F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66E12C-6BAD-B0AD-9D39-72745A27BF1D}"/>
              </a:ext>
            </a:extLst>
          </p:cNvPr>
          <p:cNvSpPr/>
          <p:nvPr/>
        </p:nvSpPr>
        <p:spPr>
          <a:xfrm>
            <a:off x="939800" y="5232400"/>
            <a:ext cx="508000" cy="508000"/>
          </a:xfrm>
          <a:prstGeom prst="ellipse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PT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5EA482A-E847-9AF2-B51A-840FF0BB090F}"/>
              </a:ext>
            </a:extLst>
          </p:cNvPr>
          <p:cNvSpPr txBox="1"/>
          <p:nvPr/>
        </p:nvSpPr>
        <p:spPr>
          <a:xfrm>
            <a:off x="1651000" y="5181600"/>
            <a:ext cx="9601200" cy="3048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500" b="1">
                <a:solidFill>
                  <a:srgbClr val="FFFFFF"/>
                </a:solidFill>
                <a:latin typeface="Segoe UI" panose="020B0502040204020203" pitchFamily="34" charset="0"/>
              </a:rPr>
              <a:t>Tirar conclusões em três locais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442BB44-9461-FF7A-45D5-F5BE92BCBCDE}"/>
              </a:ext>
            </a:extLst>
          </p:cNvPr>
          <p:cNvSpPr txBox="1"/>
          <p:nvPr/>
        </p:nvSpPr>
        <p:spPr>
          <a:xfrm>
            <a:off x="1651000" y="5486400"/>
            <a:ext cx="9601200" cy="3302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PT" sz="1300">
                <a:solidFill>
                  <a:srgbClr val="C9D5EA"/>
                </a:solidFill>
                <a:latin typeface="Segoe UI" panose="020B0502040204020203" pitchFamily="34" charset="0"/>
              </a:rPr>
              <a:t>Benchmarks, Qualidade e Métricas e análise local automática.</a:t>
            </a:r>
          </a:p>
        </p:txBody>
      </p:sp>
    </p:spTree>
    <p:extLst>
      <p:ext uri="{BB962C8B-B14F-4D97-AF65-F5344CB8AC3E}">
        <p14:creationId xmlns:p14="http://schemas.microsoft.com/office/powerpoint/2010/main" val="1873201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6C8A182-1434-C3E2-7182-748B1C412454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Passo 1 — Bateria de prompts por temática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F93AD01-036C-F763-392F-DF5942E61973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831081-9A86-B879-2041-7A5B842C6B4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C10A491-B42F-C7B4-665C-D0EF3487A1D0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Como comparar modelos locais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F95E03C-7696-6CEC-1603-E5FFC0F75731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8 / 15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8CC5AEC-B6D6-980B-7B4B-C64A59D30838}"/>
              </a:ext>
            </a:extLst>
          </p:cNvPr>
          <p:cNvSpPr txBox="1"/>
          <p:nvPr/>
        </p:nvSpPr>
        <p:spPr>
          <a:xfrm>
            <a:off x="762000" y="1193800"/>
            <a:ext cx="10668000" cy="304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300">
                <a:solidFill>
                  <a:srgbClr val="8C9EB8"/>
                </a:solidFill>
                <a:latin typeface="Segoe UI" panose="020B0502040204020203" pitchFamily="34" charset="0"/>
              </a:rPr>
              <a:t>Cada modelo responde às mesmas perguntas; 3–5 prompts por temática, com temperaturas distintas.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6805473D-F3DD-3B6B-1994-B20D10AA0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993504"/>
              </p:ext>
            </p:extLst>
          </p:nvPr>
        </p:nvGraphicFramePr>
        <p:xfrm>
          <a:off x="762000" y="1574800"/>
          <a:ext cx="10668000" cy="3632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829233996"/>
                    </a:ext>
                  </a:extLst>
                </a:gridCol>
                <a:gridCol w="6350000">
                  <a:extLst>
                    <a:ext uri="{9D8B030D-6E8A-4147-A177-3AD203B41FA5}">
                      <a16:colId xmlns:a16="http://schemas.microsoft.com/office/drawing/2014/main" val="317372926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74680527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Temática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Prompt exemplo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Temperatura esperada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69864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Factual / história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Explica o que causou a queda da República em Portugal em 1926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~0.10–0.20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15089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Como-fazer / código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Escreve uma função C# que calcula o desvio padrão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~0.10–0.20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95493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Tradução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Traduz para inglês: ...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~0.24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601858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Criativo / anedota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Conta-me uma anedota de programadores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~0.78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75608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Criativo / conto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Escreve um conto de 200 palavras sobre um gato astronauta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~0.78–0.90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34286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618281EF-6A7E-5AA1-A742-2ADCD8FF7CD1}"/>
              </a:ext>
            </a:extLst>
          </p:cNvPr>
          <p:cNvSpPr txBox="1"/>
          <p:nvPr/>
        </p:nvSpPr>
        <p:spPr>
          <a:xfrm>
            <a:off x="762000" y="5384800"/>
            <a:ext cx="106680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pt-PT" sz="1350">
                <a:solidFill>
                  <a:srgbClr val="8C9EB8"/>
                </a:solidFill>
                <a:latin typeface="Segoe UI" panose="020B0502040204020203" pitchFamily="34" charset="0"/>
              </a:rPr>
              <a:t>•  </a:t>
            </a:r>
            <a:r>
              <a:rPr lang="pt-PT" sz="1350" b="1">
                <a:solidFill>
                  <a:srgbClr val="38BDF8"/>
                </a:solidFill>
                <a:latin typeface="Segoe UI" panose="020B0502040204020203" pitchFamily="34" charset="0"/>
              </a:rPr>
              <a:t>Comparável só quando todos respondem à mesma pergunta</a:t>
            </a:r>
            <a:r>
              <a:rPr lang="pt-PT" sz="1350">
                <a:solidFill>
                  <a:srgbClr val="8C9EB8"/>
                </a:solidFill>
                <a:latin typeface="Segoe UI" panose="020B0502040204020203" pitchFamily="34" charset="0"/>
              </a:rPr>
              <a:t> — o erro mais comum é comparar respostas a perguntas diferentes.</a:t>
            </a:r>
          </a:p>
        </p:txBody>
      </p:sp>
    </p:spTree>
    <p:extLst>
      <p:ext uri="{BB962C8B-B14F-4D97-AF65-F5344CB8AC3E}">
        <p14:creationId xmlns:p14="http://schemas.microsoft.com/office/powerpoint/2010/main" val="1051275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99E0B18-B16C-641D-B416-B0E723448488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Passos 2 e 3 — Carregar e executar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7A4451E-C4F0-4E82-E31F-769E4C91C4EC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4D9B9A5-6E10-6099-286B-294A50C9BC2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F6AA880-4E4B-61C6-7844-DDFEA0DDA46E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Como comparar modelos locais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60D9A21-91C2-F94B-613D-6BEAA3E8F9F4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9 / 15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800130-D564-9BEE-1C35-DC4BC9169199}"/>
              </a:ext>
            </a:extLst>
          </p:cNvPr>
          <p:cNvSpPr txBox="1"/>
          <p:nvPr/>
        </p:nvSpPr>
        <p:spPr>
          <a:xfrm>
            <a:off x="762000" y="1346200"/>
            <a:ext cx="106680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700" b="1">
                <a:solidFill>
                  <a:srgbClr val="38BDF8"/>
                </a:solidFill>
                <a:latin typeface="Segoe UI" panose="020B0502040204020203" pitchFamily="34" charset="0"/>
              </a:rPr>
              <a:t>Passo 2 — Carregar o conjunto candidato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E255E3D-C513-B400-4505-E8BDF4604896}"/>
              </a:ext>
            </a:extLst>
          </p:cNvPr>
          <p:cNvSpPr txBox="1"/>
          <p:nvPr/>
        </p:nvSpPr>
        <p:spPr>
          <a:xfrm>
            <a:off x="762000" y="1778000"/>
            <a:ext cx="10668000" cy="190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pt-PT" sz="14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450" b="1">
                <a:solidFill>
                  <a:srgbClr val="38BDF8"/>
                </a:solidFill>
                <a:latin typeface="Segoe UI" panose="020B0502040204020203" pitchFamily="34" charset="0"/>
              </a:rPr>
              <a:t>Instalação</a:t>
            </a:r>
            <a:r>
              <a:rPr lang="pt-PT" sz="1450">
                <a:solidFill>
                  <a:srgbClr val="C9D5EA"/>
                </a:solidFill>
                <a:latin typeface="Segoe UI" panose="020B0502040204020203" pitchFamily="34" charset="0"/>
              </a:rPr>
              <a:t> — ollama pull &lt;modelo&gt; para cada candidato; os modelos aparecem no seletor do chat.</a:t>
            </a:r>
          </a:p>
          <a:p>
            <a:pPr>
              <a:spcAft>
                <a:spcPts val="1200"/>
              </a:spcAft>
            </a:pPr>
            <a:r>
              <a:rPr lang="pt-PT" sz="14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450" b="1">
                <a:solidFill>
                  <a:srgbClr val="38BDF8"/>
                </a:solidFill>
                <a:latin typeface="Segoe UI" panose="020B0502040204020203" pitchFamily="34" charset="0"/>
              </a:rPr>
              <a:t>Definições (/settings)</a:t>
            </a:r>
            <a:r>
              <a:rPr lang="pt-PT" sz="1450">
                <a:solidFill>
                  <a:srgbClr val="C9D5EA"/>
                </a:solidFill>
                <a:latin typeface="Segoe UI" panose="020B0502040204020203" pitchFamily="34" charset="0"/>
              </a:rPr>
              <a:t> — só ali se configuram os juízes de IA (chaves Gemini/OpenRouter) e o toggle de reasoning; não é ali que se adicionam modelos.</a:t>
            </a:r>
          </a:p>
          <a:p>
            <a:pPr>
              <a:spcAft>
                <a:spcPts val="1200"/>
              </a:spcAft>
            </a:pPr>
            <a:r>
              <a:rPr lang="pt-PT" sz="14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450" b="1">
                <a:solidFill>
                  <a:srgbClr val="38BDF8"/>
                </a:solidFill>
                <a:latin typeface="Segoe UI" panose="020B0502040204020203" pitchFamily="34" charset="0"/>
              </a:rPr>
              <a:t>Mesma família em tamanhos diferentes (ex.: qwen3:4b, 8b, 14b)</a:t>
            </a:r>
            <a:r>
              <a:rPr lang="pt-PT" sz="1450">
                <a:solidFill>
                  <a:srgbClr val="C9D5EA"/>
                </a:solidFill>
                <a:latin typeface="Segoe UI" panose="020B0502040204020203" pitchFamily="34" charset="0"/>
              </a:rPr>
              <a:t> — um modelo pequeno pode superar um maior numa temática.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A540787-1B4E-F562-2DE4-98905946A2A9}"/>
              </a:ext>
            </a:extLst>
          </p:cNvPr>
          <p:cNvSpPr/>
          <p:nvPr/>
        </p:nvSpPr>
        <p:spPr>
          <a:xfrm>
            <a:off x="762000" y="3810000"/>
            <a:ext cx="10668000" cy="25400"/>
          </a:xfrm>
          <a:prstGeom prst="rect">
            <a:avLst/>
          </a:prstGeom>
          <a:solidFill>
            <a:srgbClr val="8C9E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2C61A8F-5CB3-3C46-EEDA-111798F30781}"/>
              </a:ext>
            </a:extLst>
          </p:cNvPr>
          <p:cNvSpPr txBox="1"/>
          <p:nvPr/>
        </p:nvSpPr>
        <p:spPr>
          <a:xfrm>
            <a:off x="762000" y="4013200"/>
            <a:ext cx="106680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700" b="1">
                <a:solidFill>
                  <a:srgbClr val="38BDF8"/>
                </a:solidFill>
                <a:latin typeface="Segoe UI" panose="020B0502040204020203" pitchFamily="34" charset="0"/>
              </a:rPr>
              <a:t>Passo 3 — Executar a bateria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272DE22-E107-9ED3-9D4A-10CCC31C001A}"/>
              </a:ext>
            </a:extLst>
          </p:cNvPr>
          <p:cNvSpPr txBox="1"/>
          <p:nvPr/>
        </p:nvSpPr>
        <p:spPr>
          <a:xfrm>
            <a:off x="762000" y="4445000"/>
            <a:ext cx="10668000" cy="177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pt-PT" sz="1450">
                <a:solidFill>
                  <a:srgbClr val="C9D5EA"/>
                </a:solidFill>
                <a:latin typeface="Segoe UI" panose="020B0502040204020203" pitchFamily="34" charset="0"/>
              </a:rPr>
              <a:t>•  Mesmas perguntas para todos, com a opção Novo Chat e mudando apenas o modelo no seletor.</a:t>
            </a:r>
          </a:p>
          <a:p>
            <a:pPr>
              <a:spcAft>
                <a:spcPts val="1200"/>
              </a:spcAft>
            </a:pPr>
            <a:r>
              <a:rPr lang="pt-PT" sz="1450">
                <a:solidFill>
                  <a:srgbClr val="C9D5EA"/>
                </a:solidFill>
                <a:latin typeface="Segoe UI" panose="020B0502040204020203" pitchFamily="34" charset="0"/>
              </a:rPr>
              <a:t>•  Cada resposta fica registada na base de dados com as métricas de velocidade.</a:t>
            </a:r>
          </a:p>
          <a:p>
            <a:pPr>
              <a:spcAft>
                <a:spcPts val="1200"/>
              </a:spcAft>
            </a:pPr>
            <a:r>
              <a:rPr lang="pt-PT" sz="14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450" b="1">
                <a:solidFill>
                  <a:srgbClr val="38BDF8"/>
                </a:solidFill>
                <a:latin typeface="Segoe UI" panose="020B0502040204020203" pitchFamily="34" charset="0"/>
              </a:rPr>
              <a:t>Agrupamento por PromptId</a:t>
            </a:r>
            <a:r>
              <a:rPr lang="pt-PT" sz="1450">
                <a:solidFill>
                  <a:srgbClr val="C9D5EA"/>
                </a:solidFill>
                <a:latin typeface="Segoe UI" panose="020B0502040204020203" pitchFamily="34" charset="0"/>
              </a:rPr>
              <a:t> — é o que permite comparar lado a lado na grelha de Qualidade e Métricas.</a:t>
            </a:r>
          </a:p>
        </p:txBody>
      </p:sp>
    </p:spTree>
    <p:extLst>
      <p:ext uri="{BB962C8B-B14F-4D97-AF65-F5344CB8AC3E}">
        <p14:creationId xmlns:p14="http://schemas.microsoft.com/office/powerpoint/2010/main" val="3876993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hred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322A8BD-A59B-0754-8474-87ACC0585AD0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Passo 4 — Avaliar cada resposta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D8A8E9B-1657-D064-E744-96E167FD1B87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45D45DD-1A84-2CD1-5543-ABB000665AC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3AE1F35-D263-FBE0-7347-CA2AA08E80CB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Como comparar modelos locais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6B8F59-C44E-DE30-AABB-04EB6467AE75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10 / 15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8847F07-A43D-BC14-AD72-696B806E4A09}"/>
              </a:ext>
            </a:extLst>
          </p:cNvPr>
          <p:cNvSpPr txBox="1"/>
          <p:nvPr/>
        </p:nvSpPr>
        <p:spPr>
          <a:xfrm>
            <a:off x="762000" y="1473200"/>
            <a:ext cx="10668000" cy="381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Avaliar automaticamente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na página Qualidade e Métricas (/benchmarks) submete o prompt de auditoria aos dois juízes (Gemini e OpenRouter), com contexto crítico para não penalizar falta de conhecimento pós-treino.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Copiar prompt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para colar a avaliação manualmente, se preferir.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Origem real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os rótulos mostram se a avaliação veio da API, foi colada por si ou está "sem resposta"; nunca assuma que um campo preenchido veio da API.</a:t>
            </a:r>
          </a:p>
          <a:p>
            <a:pPr>
              <a:spcAft>
                <a:spcPts val="18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Avalie todas as respostas da bateria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não apenas uma, senão a comparação não é justa.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A5EBB7C-1B34-36E9-4F2C-4FA92FDC8F76}"/>
              </a:ext>
            </a:extLst>
          </p:cNvPr>
          <p:cNvSpPr/>
          <p:nvPr/>
        </p:nvSpPr>
        <p:spPr>
          <a:xfrm>
            <a:off x="762000" y="5384800"/>
            <a:ext cx="10668000" cy="7874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6B3FF9C-B4F7-22D8-0811-D7EF0B6C8AAE}"/>
              </a:ext>
            </a:extLst>
          </p:cNvPr>
          <p:cNvSpPr txBox="1"/>
          <p:nvPr/>
        </p:nvSpPr>
        <p:spPr>
          <a:xfrm>
            <a:off x="990600" y="5537200"/>
            <a:ext cx="10210800" cy="508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Limite gratuito: os juízes em nuvem ficam limitados a ~60 s entre chamadas. A avaliação é sempre por resposta.</a:t>
            </a:r>
          </a:p>
        </p:txBody>
      </p:sp>
    </p:spTree>
    <p:extLst>
      <p:ext uri="{BB962C8B-B14F-4D97-AF65-F5344CB8AC3E}">
        <p14:creationId xmlns:p14="http://schemas.microsoft.com/office/powerpoint/2010/main" val="4015170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hred pattern="rectang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3EC1BE-9BBB-0CB2-4AD5-90E748C34EAF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Passo 5 — Tirar conclusões em três locais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0974B5D-D715-1FBE-8E33-82EC392F4682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A73DB9D-1384-B136-74B7-623B5B056C0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D3A3B4-BCC5-0B06-FEBA-5B3FC83FB56F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Como comparar modelos locais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59791B3-CA73-4B1D-2336-BBE4164C2BF3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11 / 15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FACC60C-64DD-2E68-B2D8-D8A698A68712}"/>
              </a:ext>
            </a:extLst>
          </p:cNvPr>
          <p:cNvSpPr/>
          <p:nvPr/>
        </p:nvSpPr>
        <p:spPr>
          <a:xfrm>
            <a:off x="762000" y="1422400"/>
            <a:ext cx="3302000" cy="3810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8A991C7-BADD-7A26-305C-1EB284019404}"/>
              </a:ext>
            </a:extLst>
          </p:cNvPr>
          <p:cNvSpPr txBox="1"/>
          <p:nvPr/>
        </p:nvSpPr>
        <p:spPr>
          <a:xfrm>
            <a:off x="965200" y="1600200"/>
            <a:ext cx="28956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700" b="1">
                <a:solidFill>
                  <a:srgbClr val="38BDF8"/>
                </a:solidFill>
                <a:latin typeface="Segoe UI" panose="020B0502040204020203" pitchFamily="34" charset="0"/>
              </a:rPr>
              <a:t>Benchmarks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B357099-8C3D-FC65-7B16-82F68E2711A4}"/>
              </a:ext>
            </a:extLst>
          </p:cNvPr>
          <p:cNvSpPr txBox="1"/>
          <p:nvPr/>
        </p:nvSpPr>
        <p:spPr>
          <a:xfrm>
            <a:off x="965200" y="1981200"/>
            <a:ext cx="2895600" cy="2794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/benchmark-evaluations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CB9399-9893-3115-1AB6-26C70FBA3275}"/>
              </a:ext>
            </a:extLst>
          </p:cNvPr>
          <p:cNvSpPr txBox="1"/>
          <p:nvPr/>
        </p:nvSpPr>
        <p:spPr>
          <a:xfrm>
            <a:off x="965200" y="2362200"/>
            <a:ext cx="2895600" cy="266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Tabela consolidada com filtros</a:t>
            </a:r>
          </a:p>
          <a:p>
            <a:pPr>
              <a:spcAft>
                <a:spcPts val="10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Export para Excel</a:t>
            </a:r>
          </a:p>
          <a:p>
            <a:pPr>
              <a:spcAft>
                <a:spcPts val="10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Análise local automática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CDF521E-2666-3F37-A123-E175CE77F209}"/>
              </a:ext>
            </a:extLst>
          </p:cNvPr>
          <p:cNvSpPr/>
          <p:nvPr/>
        </p:nvSpPr>
        <p:spPr>
          <a:xfrm>
            <a:off x="4445000" y="1422400"/>
            <a:ext cx="3302000" cy="3810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E228D3F-18DB-76A2-7C54-2C1F2F0E0CB1}"/>
              </a:ext>
            </a:extLst>
          </p:cNvPr>
          <p:cNvSpPr txBox="1"/>
          <p:nvPr/>
        </p:nvSpPr>
        <p:spPr>
          <a:xfrm>
            <a:off x="4648200" y="1600200"/>
            <a:ext cx="28956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700" b="1">
                <a:solidFill>
                  <a:srgbClr val="38BDF8"/>
                </a:solidFill>
                <a:latin typeface="Segoe UI" panose="020B0502040204020203" pitchFamily="34" charset="0"/>
              </a:rPr>
              <a:t>Qualidade e Métricas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087C0BE-9DC4-54DB-F27B-A61D72A65320}"/>
              </a:ext>
            </a:extLst>
          </p:cNvPr>
          <p:cNvSpPr txBox="1"/>
          <p:nvPr/>
        </p:nvSpPr>
        <p:spPr>
          <a:xfrm>
            <a:off x="4648200" y="1981200"/>
            <a:ext cx="2895600" cy="2794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/benchmarks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3228525-6A53-27E0-A1E0-1149CD0A61EA}"/>
              </a:ext>
            </a:extLst>
          </p:cNvPr>
          <p:cNvSpPr txBox="1"/>
          <p:nvPr/>
        </p:nvSpPr>
        <p:spPr>
          <a:xfrm>
            <a:off x="4648200" y="2362200"/>
            <a:ext cx="2895600" cy="266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Comparação lado a lado por pergunta</a:t>
            </a:r>
          </a:p>
          <a:p>
            <a:pPr>
              <a:spcAft>
                <a:spcPts val="10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Tab Desempenho: tempos, velocidade e tokens em barras</a:t>
            </a:r>
          </a:p>
          <a:p>
            <a:pPr>
              <a:spcAft>
                <a:spcPts val="10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Tab Qualidade: radares por juiz com as 12 métricas (0–5)</a:t>
            </a:r>
          </a:p>
          <a:p>
            <a:pPr>
              <a:spcAft>
                <a:spcPts val="10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Download de imagem dos gráficos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BC48C64-3659-FEA7-FF89-A979E53216A1}"/>
              </a:ext>
            </a:extLst>
          </p:cNvPr>
          <p:cNvSpPr/>
          <p:nvPr/>
        </p:nvSpPr>
        <p:spPr>
          <a:xfrm>
            <a:off x="8128000" y="1422400"/>
            <a:ext cx="3302000" cy="3810000"/>
          </a:xfrm>
          <a:prstGeom prst="roundRect">
            <a:avLst/>
          </a:prstGeom>
          <a:solidFill>
            <a:srgbClr val="142F5C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481C5E1-152F-974D-4323-F78A59353E40}"/>
              </a:ext>
            </a:extLst>
          </p:cNvPr>
          <p:cNvSpPr txBox="1"/>
          <p:nvPr/>
        </p:nvSpPr>
        <p:spPr>
          <a:xfrm>
            <a:off x="8331200" y="1600200"/>
            <a:ext cx="28956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700" b="1">
                <a:solidFill>
                  <a:srgbClr val="38BDF8"/>
                </a:solidFill>
                <a:latin typeface="Segoe UI" panose="020B0502040204020203" pitchFamily="34" charset="0"/>
              </a:rPr>
              <a:t>Análise automática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AB16C1E-6292-F961-9CB7-20920DE7EE31}"/>
              </a:ext>
            </a:extLst>
          </p:cNvPr>
          <p:cNvSpPr txBox="1"/>
          <p:nvPr/>
        </p:nvSpPr>
        <p:spPr>
          <a:xfrm>
            <a:off x="8331200" y="1981200"/>
            <a:ext cx="2895600" cy="2794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LocalAnalysisService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4476CBA-0A97-FF54-A4D1-4E7860A0B36F}"/>
              </a:ext>
            </a:extLst>
          </p:cNvPr>
          <p:cNvSpPr txBox="1"/>
          <p:nvPr/>
        </p:nvSpPr>
        <p:spPr>
          <a:xfrm>
            <a:off x="8331200" y="2362200"/>
            <a:ext cx="2895600" cy="266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Identifica o mais rápido e o melhor avaliado</a:t>
            </a:r>
          </a:p>
          <a:p>
            <a:pPr>
              <a:spcAft>
                <a:spcPts val="10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Verifica o consenso entre juízes</a:t>
            </a:r>
          </a:p>
          <a:p>
            <a:pPr>
              <a:spcAft>
                <a:spcPts val="1000"/>
              </a:spcAft>
            </a:pPr>
            <a:r>
              <a:rPr lang="pt-PT" sz="1350">
                <a:solidFill>
                  <a:srgbClr val="C9D5EA"/>
                </a:solidFill>
                <a:latin typeface="Segoe UI" panose="020B0502040204020203" pitchFamily="34" charset="0"/>
              </a:rPr>
              <a:t>•  Alerta se todos ficarem abaixo de 4.0/5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B523F61-0F03-9636-EA7B-07D1DEDC652F}"/>
              </a:ext>
            </a:extLst>
          </p:cNvPr>
          <p:cNvSpPr txBox="1"/>
          <p:nvPr/>
        </p:nvSpPr>
        <p:spPr>
          <a:xfrm>
            <a:off x="762000" y="5435600"/>
            <a:ext cx="106680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pt-PT" sz="1350">
                <a:solidFill>
                  <a:srgbClr val="8C9EB8"/>
                </a:solidFill>
                <a:latin typeface="Segoe UI" panose="020B0502040204020203" pitchFamily="34" charset="0"/>
              </a:rPr>
              <a:t>•  </a:t>
            </a:r>
            <a:r>
              <a:rPr lang="pt-PT" sz="1350" b="1">
                <a:solidFill>
                  <a:srgbClr val="38BDF8"/>
                </a:solidFill>
                <a:latin typeface="Segoe UI" panose="020B0502040204020203" pitchFamily="34" charset="0"/>
              </a:rPr>
              <a:t>Os três locais leem da mesma base de dados</a:t>
            </a:r>
            <a:r>
              <a:rPr lang="pt-PT" sz="1350">
                <a:solidFill>
                  <a:srgbClr val="8C9EB8"/>
                </a:solidFill>
                <a:latin typeface="Segoe UI" panose="020B0502040204020203" pitchFamily="34" charset="0"/>
              </a:rPr>
              <a:t> — use-os em conjunto: a tabela consolida, os radares explicam e a análise local resume.</a:t>
            </a:r>
          </a:p>
        </p:txBody>
      </p:sp>
    </p:spTree>
    <p:extLst>
      <p:ext uri="{BB962C8B-B14F-4D97-AF65-F5344CB8AC3E}">
        <p14:creationId xmlns:p14="http://schemas.microsoft.com/office/powerpoint/2010/main" val="314440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C1D0F58-3563-D8B4-F5B8-F242D0760681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Como ler os resultados (1 / 2)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CAF8AD9-D60E-D876-2356-795FD287327D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10AF1B0-9B61-69BD-D078-57F555096E0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17CBEA2-DACF-8566-3D70-58F70988F66B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Como comparar modelos locais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460F1F-09B4-CE04-480A-35812360DD90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12 / 15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79542D6-DA01-1C4F-00D7-5480E6BD93B5}"/>
              </a:ext>
            </a:extLst>
          </p:cNvPr>
          <p:cNvSpPr txBox="1"/>
          <p:nvPr/>
        </p:nvSpPr>
        <p:spPr>
          <a:xfrm>
            <a:off x="762000" y="1473200"/>
            <a:ext cx="10668000" cy="469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1. Nunca olhe apenas para a nota final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— o valor está na separação Score Factual vs Score Formatação: um pequeno pode ter Factual=5 e Formatação=2 (e esse é o sinal para escolher por temática).</a:t>
            </a:r>
          </a:p>
          <a:p>
            <a:pPr>
              <a:spcAft>
                <a:spcPts val="20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2. Consenso entre juízes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— se Gemini e OpenRouter divergem muito no FactualRating, desconfie do resultado isolado; se ambos concordam em 5, é sinal forte.</a:t>
            </a:r>
          </a:p>
          <a:p>
            <a:pPr>
              <a:spcAft>
                <a:spcPts val="20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3. Cruzamento velocidade × qualidade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— para o dia-a-dia, o mais rápido que mantenha qualidade ≥ 4 no seu tipo de prompt vale mais do que o melhor avaliado que demora 3× mais.</a:t>
            </a:r>
          </a:p>
          <a:p>
            <a:pPr>
              <a:spcAft>
                <a:spcPts val="20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4. Compatibilidade de VRAM (badge GPU no chat)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— determina se o candidato corre na placa ou no CPU; o que cabe na GPU ganha sempre na prática.</a:t>
            </a:r>
          </a:p>
        </p:txBody>
      </p:sp>
    </p:spTree>
    <p:extLst>
      <p:ext uri="{BB962C8B-B14F-4D97-AF65-F5344CB8AC3E}">
        <p14:creationId xmlns:p14="http://schemas.microsoft.com/office/powerpoint/2010/main" val="2574089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ythrough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8C33A6C-5D04-3929-2246-127294F57028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Como ler os resultados (2 / 2)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E8BB548-F30F-520D-6CCB-BD0218A16AF9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8C4E8B8-C694-02E5-F477-42C95C4F023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96A4FC2-49EF-463E-6560-F43AA21318DB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Como comparar modelos locais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48551B-8DC6-9139-FA55-9105A6609A90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13 / 15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7C40EB9-1DCE-8723-A742-517ECB6C5BCB}"/>
              </a:ext>
            </a:extLst>
          </p:cNvPr>
          <p:cNvSpPr txBox="1"/>
          <p:nvPr/>
        </p:nvSpPr>
        <p:spPr>
          <a:xfrm>
            <a:off x="762000" y="1473200"/>
            <a:ext cx="10668000" cy="469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2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5. Alerta de qualidade global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— se nenhum modelo passa de 4/5 numa temática, mude de família ou de tamanho; não aceite o menor dos maus.</a:t>
            </a:r>
          </a:p>
          <a:p>
            <a:pPr>
              <a:spcAft>
                <a:spcPts val="22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6. Factual baixo = sinal de alucinação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— sem verificação externa, os juízes detetam contradições internas e factos claramente falsos, mas detalhes inventados mas plausíveis (citações, estatísticas, URLs) podem passar; reforce com o consenso entre juízes.</a:t>
            </a:r>
          </a:p>
          <a:p>
            <a:pPr>
              <a:spcAft>
                <a:spcPts val="2200"/>
              </a:spcAft>
            </a:pP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550" b="1">
                <a:solidFill>
                  <a:srgbClr val="38BDF8"/>
                </a:solidFill>
                <a:latin typeface="Segoe UI" panose="020B0502040204020203" pitchFamily="34" charset="0"/>
              </a:rPr>
              <a:t>7. O radar vale mais do que a nota única</a:t>
            </a:r>
            <a:r>
              <a:rPr lang="pt-PT" sz="1550">
                <a:solidFill>
                  <a:srgbClr val="C9D5EA"/>
                </a:solidFill>
                <a:latin typeface="Segoe UI" panose="020B0502040204020203" pitchFamily="34" charset="0"/>
              </a:rPr>
              <a:t> — um perfil "quadrado" e equilibrado é preferível a picos e vales; um perfil espetado aponta pontos fracos concretos e decide empates entre pontuações finais próximas.</a:t>
            </a:r>
          </a:p>
        </p:txBody>
      </p:sp>
    </p:spTree>
    <p:extLst>
      <p:ext uri="{BB962C8B-B14F-4D97-AF65-F5344CB8AC3E}">
        <p14:creationId xmlns:p14="http://schemas.microsoft.com/office/powerpoint/2010/main" val="4207170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honeycomb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BF3789B-B268-C785-8276-554EE699A706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Mapa temática → perfil de modelo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3A578B4-148E-4F57-B1D9-619599E4EAC9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3009464-1900-FA6A-0E95-A3455F8112B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945771C-8234-C7BB-E576-7310D10C6CCE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Como comparar modelos locais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62DDAE6-3B22-8A09-34D9-16FA41D2A563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14 / 15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6B95757-713F-241A-DF79-55F2CC153D98}"/>
              </a:ext>
            </a:extLst>
          </p:cNvPr>
          <p:cNvSpPr txBox="1"/>
          <p:nvPr/>
        </p:nvSpPr>
        <p:spPr>
          <a:xfrm>
            <a:off x="762000" y="1193800"/>
            <a:ext cx="10668000" cy="304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1300">
                <a:solidFill>
                  <a:srgbClr val="8C9EB8"/>
                </a:solidFill>
                <a:latin typeface="Segoe UI" panose="020B0502040204020203" pitchFamily="34" charset="0"/>
              </a:rPr>
              <a:t>Que métricas pesar mais e que modelo procurar em cada uso pretendido.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53465A6-B3E9-53F5-ADE3-CD4B66D28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280837"/>
              </p:ext>
            </p:extLst>
          </p:nvPr>
        </p:nvGraphicFramePr>
        <p:xfrm>
          <a:off x="762000" y="1574800"/>
          <a:ext cx="10668000" cy="3175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480060596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1122638989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390078844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Uso pretendido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Métricas a pesar mais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Que modelo procurar</a:t>
                      </a:r>
                    </a:p>
                  </a:txBody>
                  <a:tcPr marL="101600" marR="101600" marT="38100" marB="38100"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4948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História / dúvidas factuais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Factual, Relevância, Velocidade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Pequeno–médio factual sólido (ex.: phi4-mini, qwen3 4–8b)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25639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Código / instruções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Factual, Compliance, Formatação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Médio com forte cumprimento de instruções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70539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Tradução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Factual, Clareza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Pequeno já chega (temperatura baixa)</a:t>
                      </a:r>
                    </a:p>
                  </a:txBody>
                  <a:tcPr marL="101600" marR="101600" marT="38100" marB="38100" anchor="ctr">
                    <a:solidFill>
                      <a:srgbClr val="1129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88519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pt-PT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Contos / anedotas / criativo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Tom, Criatividade, Formatação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>
                          <a:solidFill>
                            <a:srgbClr val="C9D5EA"/>
                          </a:solidFill>
                          <a:latin typeface="Segoe UI" panose="020B0502040204020203" pitchFamily="34" charset="0"/>
                        </a:rPr>
                        <a:t>Maior ou focado em escrita (temperatura 0.65–0.90)</a:t>
                      </a:r>
                    </a:p>
                  </a:txBody>
                  <a:tcPr marL="101600" marR="101600" marT="38100" marB="38100" anchor="ctr">
                    <a:solidFill>
                      <a:srgbClr val="18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37813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AF90BC25-7625-6765-20BB-9857F9638442}"/>
              </a:ext>
            </a:extLst>
          </p:cNvPr>
          <p:cNvSpPr txBox="1"/>
          <p:nvPr/>
        </p:nvSpPr>
        <p:spPr>
          <a:xfrm>
            <a:off x="762000" y="5130800"/>
            <a:ext cx="106680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pt-PT" sz="14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400" b="1">
                <a:solidFill>
                  <a:srgbClr val="38BDF8"/>
                </a:solidFill>
                <a:latin typeface="Segoe UI" panose="020B0502040204020203" pitchFamily="34" charset="0"/>
              </a:rPr>
              <a:t>Resultado esperado</a:t>
            </a:r>
            <a:r>
              <a:rPr lang="pt-PT" sz="1400">
                <a:solidFill>
                  <a:srgbClr val="C9D5EA"/>
                </a:solidFill>
                <a:latin typeface="Segoe UI" panose="020B0502040204020203" pitchFamily="34" charset="0"/>
              </a:rPr>
              <a:t> — 1 modelo de uso geral (vence nas temáticas que usa 80% do tempo) + 1 especialista criativo de reserva; não precisa de manter 8 modelos carregados.</a:t>
            </a:r>
          </a:p>
        </p:txBody>
      </p:sp>
    </p:spTree>
    <p:extLst>
      <p:ext uri="{BB962C8B-B14F-4D97-AF65-F5344CB8AC3E}">
        <p14:creationId xmlns:p14="http://schemas.microsoft.com/office/powerpoint/2010/main" val="836610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erris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E3D"/>
            </a:gs>
            <a:gs pos="100000">
              <a:srgbClr val="142F5C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63F2D4B-6EDD-A055-D424-2104D28C7655}"/>
              </a:ext>
            </a:extLst>
          </p:cNvPr>
          <p:cNvSpPr txBox="1"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Notas e limitações atuais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72349E-EB86-8C1F-9FCC-2A787A45C9E5}"/>
              </a:ext>
            </a:extLst>
          </p:cNvPr>
          <p:cNvSpPr/>
          <p:nvPr/>
        </p:nvSpPr>
        <p:spPr>
          <a:xfrm>
            <a:off x="762000" y="1041400"/>
            <a:ext cx="1219200" cy="635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F5CCE45-AFA3-9DA4-522B-3F80804D239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4FCA26-BC81-4799-2FED-118DF8477F06}"/>
              </a:ext>
            </a:extLst>
          </p:cNvPr>
          <p:cNvSpPr txBox="1"/>
          <p:nvPr/>
        </p:nvSpPr>
        <p:spPr>
          <a:xfrm>
            <a:off x="508000" y="64008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OllamaArena - Como comparar modelos locais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A2DA930-5188-6A7D-72F3-10A83A278B4E}"/>
              </a:ext>
            </a:extLst>
          </p:cNvPr>
          <p:cNvSpPr txBox="1"/>
          <p:nvPr/>
        </p:nvSpPr>
        <p:spPr>
          <a:xfrm>
            <a:off x="7874000" y="64008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200">
                <a:solidFill>
                  <a:srgbClr val="8C9EB8"/>
                </a:solidFill>
                <a:latin typeface="Segoe UI" panose="020B0502040204020203" pitchFamily="34" charset="0"/>
              </a:rPr>
              <a:t>15 / 15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668C390-EB1D-79D9-EBDE-B6D04E30E97D}"/>
              </a:ext>
            </a:extLst>
          </p:cNvPr>
          <p:cNvSpPr txBox="1"/>
          <p:nvPr/>
        </p:nvSpPr>
        <p:spPr>
          <a:xfrm>
            <a:off x="762000" y="1473200"/>
            <a:ext cx="10668000" cy="469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Agrupamento por pergunta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o guia assume que a grelha de Qualidade e Métricas agrupa por PromptId e que a análise local lida com ausência de avaliações factuais.</a:t>
            </a:r>
          </a:p>
          <a:p>
            <a:pPr>
              <a:spcAft>
                <a:spcPts val="20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Avaliação por resposta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manual ou por juízes em nuvem, limitados a ~60 s entre chamadas para proteger os limites gratuitos.</a:t>
            </a:r>
          </a:p>
          <a:p>
            <a:pPr>
              <a:spcAft>
                <a:spcPts val="20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Temperatura automática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para testar o mesmo modelo em modo criativo vs factual, a diferença tem de vir do próprio prompt — é esse o desenho da aplicação.</a:t>
            </a:r>
          </a:p>
          <a:p>
            <a:pPr>
              <a:spcAft>
                <a:spcPts val="2000"/>
              </a:spcAft>
            </a:pP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•  </a:t>
            </a:r>
            <a:r>
              <a:rPr lang="pt-PT" sz="1600" b="1">
                <a:solidFill>
                  <a:srgbClr val="38BDF8"/>
                </a:solidFill>
                <a:latin typeface="Segoe UI" panose="020B0502040204020203" pitchFamily="34" charset="0"/>
              </a:rPr>
              <a:t>Persistência</a:t>
            </a:r>
            <a:r>
              <a:rPr lang="pt-PT" sz="1600">
                <a:solidFill>
                  <a:srgbClr val="C9D5EA"/>
                </a:solidFill>
                <a:latin typeface="Segoe UI" panose="020B0502040204020203" pitchFamily="34" charset="0"/>
              </a:rPr>
              <a:t> — o histórico do chat está em SQLite (Conversas/ConversaMensagens) e pode ser exportado/importado em JSON; avaliações e benchmarks vivem na mesma base de dados.</a:t>
            </a:r>
          </a:p>
        </p:txBody>
      </p:sp>
    </p:spTree>
    <p:extLst>
      <p:ext uri="{BB962C8B-B14F-4D97-AF65-F5344CB8AC3E}">
        <p14:creationId xmlns:p14="http://schemas.microsoft.com/office/powerpoint/2010/main" val="426174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erris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1922</Words>
  <Application>Microsoft Office PowerPoint</Application>
  <PresentationFormat>Personalizados</PresentationFormat>
  <Paragraphs>212</Paragraphs>
  <Slides>15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Fausto Luis</dc:creator>
  <cp:lastModifiedBy>Fausto Luis</cp:lastModifiedBy>
  <cp:revision>1</cp:revision>
  <dcterms:created xsi:type="dcterms:W3CDTF">2026-10-06T12:24:55Z</dcterms:created>
  <dcterms:modified xsi:type="dcterms:W3CDTF">2026-10-06T12:24:55Z</dcterms:modified>
</cp:coreProperties>
</file>