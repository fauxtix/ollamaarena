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A805A-B235-F1F1-E829-4E98AB599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41FBD-8668-1481-88EF-5B697CB23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2C1A1E7-83A9-7C63-980C-61B5BFA0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031A58-006E-CAF6-644D-23FD7BD4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9C2A190-E0EB-D80D-773B-F79EDB4D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497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61EF2-55C2-BA4B-E552-4DFD3FF9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73537B1-BAE5-3972-6E4B-EFFE85B1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D15F43-362A-8A3A-71BD-B10D81D5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A5DC0A0-D335-4AC9-68E0-DB190394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0DFDA63-5D41-BC1B-0AFD-314116F2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0056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0BD80-D041-5CAB-5AE8-8314B378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670A9C7-773D-7CEA-E2F5-8F7CE8BF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40290E-485C-AE52-95AF-C979BA26D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3FADE0-DDEF-223E-48CE-2984F251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42BFEDC-FF7A-FD5D-8F7D-31E82A60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232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01812-E9A2-3AA9-07B2-637215BB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5591766-5BED-FC32-C6B7-923509818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D451047-EB23-9348-4555-0E41A9A8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3D40F06-A978-4A0F-2C72-ED2DCD14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7FE8AA4-0A07-B953-1161-DDA93890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169D3AE-8DE3-9367-8AAD-753769D1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199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7FA43-0361-E6B5-17EA-B7D388D24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7702EB1-2EE0-D354-516D-3BDE5D98F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B56A7FF-AE3D-86DE-049E-559298C1F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0DE8FBE-10D2-F112-1A49-C7ADD59DD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B3AC65E-EFCA-8C0D-A979-468152077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02E2DD2-CC1D-096B-1232-72602223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FF6D48C-6149-53A6-2966-E3D35400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50045C6-7DE2-54C0-2612-7F1CAD6B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781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B821B-291C-BAAD-E90F-3CC17EE9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B00AF941-D85F-BDD2-0716-32BAB23D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CD89380-E09C-CF32-C249-440D1C0E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A884DC7-58C5-5E9D-77BE-3F3CB9DD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555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E7B98DE-3CA0-D9BF-B8E7-D6894A78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5F2C9A1-6D77-666C-6EE9-209AE6CB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CC31CB4-C97F-F73B-8954-4E0C1468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8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C6808-6E62-6115-796C-4DB7967A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A44AD81-2DD9-1521-2E42-16C0300D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5674D6A-3918-C8D5-FEEB-D23EFF5F6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11E93AC-5279-1363-0774-13E05BC7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CD998BC-BDEE-051A-A032-878E83CD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F5D8B4B-EFCB-9160-66EF-9CAC2C45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288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42E5F-0FA0-6B89-6961-FA39B710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98D2670-5194-742D-6B0B-65584C40BDD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AFE6E1C-EC59-E22B-997F-25C25665D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6CB4F5C-5609-5E7A-700C-13556009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41CDF0F-054B-AC79-15DB-BB05F83B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0E79E0E-2F6E-68D5-DFC0-AEE3F961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946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09A03-382A-298C-A359-F3919B68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24713E5-2895-EB1B-8BC6-7C0515AC6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D64989-1D5C-22F8-09B8-C93D4172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517F24F-BD38-A5AB-A700-2A63FA34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E0BA838-B89E-C9C7-12B4-83052047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220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9E6423-414D-ADDC-A1E5-980087A41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094DA38-89B7-D52E-B2D7-D992E5436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7A95D3-A7F9-CD4D-65B3-56F91E59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EC1BB17-4950-1783-AF05-C5993BD7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0D8B3B-1DA0-D8BF-E6DC-A3179A88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656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2CB4637-A67A-B53D-4D78-38BB1C96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7A4334F-61CF-74CF-540D-239A1319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DCBEDDB-12F2-A4DB-20F2-A77491458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89DB3-50E1-4287-8A19-3FED6D76FC0D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0E92BA3-4406-8FA6-B694-9554BD661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0269ECF-72FA-D2DB-CB07-7A216F7DB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C2AA8-E6FD-4FF5-BC96-8248C53506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380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6349E7-9308-3FC8-9A55-B1B3F439B0FD}"/>
              </a:ext>
            </a:extLst>
          </p:cNvPr>
          <p:cNvSpPr txBox="1"/>
          <p:nvPr/>
        </p:nvSpPr>
        <p:spPr>
          <a:xfrm>
            <a:off x="762000" y="1905000"/>
            <a:ext cx="10668000" cy="1016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D50B94-088E-89F1-831F-94A36AC6CA5A}"/>
              </a:ext>
            </a:extLst>
          </p:cNvPr>
          <p:cNvSpPr/>
          <p:nvPr/>
        </p:nvSpPr>
        <p:spPr>
          <a:xfrm>
            <a:off x="5334000" y="3098800"/>
            <a:ext cx="1524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FC7BBA-7005-8E40-A8D1-14B60AE1EFB4}"/>
              </a:ext>
            </a:extLst>
          </p:cNvPr>
          <p:cNvSpPr txBox="1"/>
          <p:nvPr/>
        </p:nvSpPr>
        <p:spPr>
          <a:xfrm>
            <a:off x="762000" y="3429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Chat local com Ollama e laboratorio de benchmarks "LLM-as-a-judge"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B066A8-E0E0-1005-232B-10686A85F334}"/>
              </a:ext>
            </a:extLst>
          </p:cNvPr>
          <p:cNvSpPr txBox="1"/>
          <p:nvPr/>
        </p:nvSpPr>
        <p:spPr>
          <a:xfrm>
            <a:off x="762000" y="4064000"/>
            <a:ext cx="10668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1400">
                <a:solidFill>
                  <a:srgbClr val="8C9EB8"/>
                </a:solidFill>
                <a:latin typeface="Segoe UI" panose="020B0502040204020203" pitchFamily="34" charset="0"/>
              </a:rPr>
              <a:t>Documentacao tecnica - Blazor Server (.NET 10) | FluentUI | SQLite | Serilog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43C2151-867C-F654-43B9-0F0FEDDCCC8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4A0641D-D7DE-15A8-E266-A22310D76C52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C13188-85DA-34A7-4648-FB8757A909ED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 / 25</a:t>
            </a:r>
          </a:p>
        </p:txBody>
      </p:sp>
    </p:spTree>
    <p:extLst>
      <p:ext uri="{BB962C8B-B14F-4D97-AF65-F5344CB8AC3E}">
        <p14:creationId xmlns:p14="http://schemas.microsoft.com/office/powerpoint/2010/main" val="3732310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8D5B4F-6DFA-CBB9-1EEA-2A805AE5A407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Visao geral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33683AE-56F5-0685-C0FB-55A4355CCFFA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780AF2-9089-FE33-DA0C-91442D2C7DF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0A4AB1-3838-0EFD-DB66-C4922B627C1C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94B896-273C-ADC7-911D-8D0F9C56947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4378FF-EAF5-A798-821E-2109BBC1C22D}"/>
              </a:ext>
            </a:extLst>
          </p:cNvPr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Chat local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conversa com modelos Ollama em streaming NDJSON, com barra de contexto e reasoning opcional.</a:t>
            </a:r>
          </a:p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Benchmarks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cada troca e gravada como resposta de benchmark, com metricas de velocidade automaticas.</a:t>
            </a:r>
          </a:p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LLM-as-a-judge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a qualidade e avaliada por dois juizes (Gemini e OpenRouter) mais analise local em C#.</a:t>
            </a:r>
          </a:p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UI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FluentUI Blazor v4 (DataGrid, Dialog, Splitter, NavMenu) com tema escuro/claro e idioma PT/EN.</a:t>
            </a:r>
          </a:p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Dados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SQLite via Dapper (schema criado de forma lazily + migracao idempotente) e Serilog (tabela Logs).</a:t>
            </a:r>
          </a:p>
          <a:p>
            <a:pPr>
              <a:spcAft>
                <a:spcPts val="2000"/>
              </a:spcAft>
            </a:pP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Ollama</a:t>
            </a:r>
            <a:r>
              <a:rPr lang="pt-PT" sz="1700">
                <a:solidFill>
                  <a:srgbClr val="C9D5EA"/>
                </a:solidFill>
                <a:latin typeface="Segoe UI" panose="020B0502040204020203" pitchFamily="34" charset="0"/>
              </a:rPr>
              <a:t> - comunicacao direta por HTTP (streaming em /api/chat), sem wrappers de terceiros.</a:t>
            </a:r>
          </a:p>
        </p:txBody>
      </p:sp>
    </p:spTree>
    <p:extLst>
      <p:ext uri="{BB962C8B-B14F-4D97-AF65-F5344CB8AC3E}">
        <p14:creationId xmlns:p14="http://schemas.microsoft.com/office/powerpoint/2010/main" val="2575935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B2560A-5AA6-3481-2AF5-7992F8E64BA5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Stack e arquitetura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179906-8FA6-174C-C73A-0EC629FF6E7A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AB6DE9-5AD5-3EC4-EF08-DB85628F907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D193E0-70B0-69F0-9F4E-5B030486F61D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5BD1F3-05E7-ED95-0F1C-778D61A7A744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3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2161740-293C-C46C-D71D-51618CD30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10642"/>
              </p:ext>
            </p:extLst>
          </p:nvPr>
        </p:nvGraphicFramePr>
        <p:xfrm>
          <a:off x="762000" y="1473200"/>
          <a:ext cx="10668000" cy="3378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32614741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24529645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Camada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Tecnologia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0058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Frontend/Backend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Blazor Server (.NET 10), Razor Components (Interactive Server)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3251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UI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Microsoft FluentUI.AspNetCore.Components v4.14.2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37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Dados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Dapper + Microsoft.Data.Sqlite (ollama_benchmark.db)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3624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Logging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Serilog - Console + sink SQLite (tabela "Logs")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264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LLM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Ollama local - /api/chat, /api/tags, /api/show, /api/ps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7618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Outros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ClosedXML (Excel), Markdig (markdown), Chart.js via JS interop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4070"/>
                  </a:ext>
                </a:extLst>
              </a:tr>
            </a:tbl>
          </a:graphicData>
        </a:graphic>
      </p:graphicFrame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53C1BF8-1223-83FF-C4A0-5A71B47AD50C}"/>
              </a:ext>
            </a:extLst>
          </p:cNvPr>
          <p:cNvSpPr/>
          <p:nvPr/>
        </p:nvSpPr>
        <p:spPr>
          <a:xfrm>
            <a:off x="762000" y="5130800"/>
            <a:ext cx="10668000" cy="9652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521F13-FC97-B455-BDF1-44843EAA2DCD}"/>
              </a:ext>
            </a:extLst>
          </p:cNvPr>
          <p:cNvSpPr txBox="1"/>
          <p:nvPr/>
        </p:nvSpPr>
        <p:spPr>
          <a:xfrm>
            <a:off x="990600" y="5308600"/>
            <a:ext cx="10210800" cy="6604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Build: dotnet build OllamaArena.slnx - app + projeto de testes (xUnit). A Ollama fala-se por HTTP direto (cliente nomeado "Ollama"); o pacote OllamaSharp foi removido como dependencia morta.</a:t>
            </a:r>
          </a:p>
        </p:txBody>
      </p:sp>
    </p:spTree>
    <p:extLst>
      <p:ext uri="{BB962C8B-B14F-4D97-AF65-F5344CB8AC3E}">
        <p14:creationId xmlns:p14="http://schemas.microsoft.com/office/powerpoint/2010/main" val="2701434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9D1741-E97D-28E6-3596-CFF6AC0E01B7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Organizacao do projeto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CDA52C-6475-8774-065C-1720C908F92F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3362A3-33C0-A201-74CE-02DB99F1F55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E11A95-3766-B297-9C5B-3448CF0BC778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318765-F9BF-5FCC-C7F4-01B7111538D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4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828360-59F3-3E1F-060E-D1AE4C9953DD}"/>
              </a:ext>
            </a:extLst>
          </p:cNvPr>
          <p:cNvSpPr txBox="1"/>
          <p:nvPr/>
        </p:nvSpPr>
        <p:spPr>
          <a:xfrm>
            <a:off x="762000" y="1498600"/>
            <a:ext cx="10668000" cy="457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Components/Pages/*.razor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paginas com rota; Components/Pages/Components - componentes reutilizaveis.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Components/Layout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MainLayout, NavMenu (drawer em mobile) e ReconnectModal.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Services/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ChatComposerService, AutomatedJudgeService, TranslationService, repositorios e helpers.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Models/DTO (shapes da API) e Models/Entities (mapeamento SQLite via Dapper).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Prompts/*.txt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prompts editaveis em runtime; PromptTemplates/ - construtores de prompt em C#.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PlanoDeTestes/ e ComoCompararModelos/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documentos PT+EN das paginas de leitura.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wwwroot/fonts/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TTF embebidos no relatorio PDF; Screenshots/ - capturas e decks .pptx gerados.</a:t>
            </a:r>
          </a:p>
        </p:txBody>
      </p:sp>
    </p:spTree>
    <p:extLst>
      <p:ext uri="{BB962C8B-B14F-4D97-AF65-F5344CB8AC3E}">
        <p14:creationId xmlns:p14="http://schemas.microsoft.com/office/powerpoint/2010/main" val="685585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42B86A-138F-A9F7-9CB3-A6A1794761FC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Navegacao - menu lateral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CD8D79-BDA0-58A7-6C01-0358348A03EF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CF0F7E-1337-C070-4FC3-07493DDCD4C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EBE5CF-25B3-2ABA-E2E0-F628A8A6691D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D7685F-232D-08F1-A675-B6EC8044AD41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5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25DFDFC-92E1-7D0F-EB7D-63DA4B761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32361"/>
              </p:ext>
            </p:extLst>
          </p:nvPr>
        </p:nvGraphicFramePr>
        <p:xfrm>
          <a:off x="762000" y="1422400"/>
          <a:ext cx="10668000" cy="3733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834661035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533677271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98490093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Item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Rota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Funcionalidade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9712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Home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Landing page + cache de modelos + preview do README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37334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Chat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/chat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Streaming, barra de contexto e benchmark automatico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03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/benchmark-evaluations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Grelha consolidada + export Excel + analise local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59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Qualidade e Metricas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/benchmarks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Split-view por prompt, graficos e avaliacao por juiz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69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Dashboard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/dashboard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Ranking agregado por modelo (score de 12 metricas)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073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Modelo Carregados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/modelos-ollama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Grelha de modelos locais com compatibilidade GPU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3802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Prompts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/edit-prompts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Editor runtime dos ficheiros Prompts/*.txt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6752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Logs do sistema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/system-logs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Visualizacao, filtro e apagamento dos logs Serilog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9659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Definicoes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/settings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Chaves dos juizes, modelo OpenRouter e reasoning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25612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C748D5C1-3DC7-4118-0BF3-CAC38C3B6472}"/>
              </a:ext>
            </a:extLst>
          </p:cNvPr>
          <p:cNvSpPr txBox="1"/>
          <p:nvPr/>
        </p:nvSpPr>
        <p:spPr>
          <a:xfrm>
            <a:off x="762000" y="5638800"/>
            <a:ext cx="10668000" cy="508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250">
                <a:solidFill>
                  <a:srgbClr val="8C9EB8"/>
                </a:solidFill>
                <a:latin typeface="Segoe UI" panose="020B0502040204020203" pitchFamily="34" charset="0"/>
              </a:rPr>
              <a:t>Responsividade: a partir de 768px o NavMenu vira drawer deslizante com overlay; Definicoes vive no menu de rodape.</a:t>
            </a:r>
          </a:p>
        </p:txBody>
      </p:sp>
    </p:spTree>
    <p:extLst>
      <p:ext uri="{BB962C8B-B14F-4D97-AF65-F5344CB8AC3E}">
        <p14:creationId xmlns:p14="http://schemas.microsoft.com/office/powerpoint/2010/main" val="315944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8D7EE7-9547-C558-E8F2-798A168FCF6A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Appbar e paginas de leitura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4EAC73-2FD2-D4E2-B9D7-898BA88A20C1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BBEEA9-95F8-B3A7-13F3-444AFD2E4D7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838BBF-A937-A56C-E855-9AC6A7BC7323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BCF8EC-1B0D-C0ED-0528-7E075C071164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6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2496A0D-B20B-5C30-BFF1-B0FD341DAB61}"/>
              </a:ext>
            </a:extLst>
          </p:cNvPr>
          <p:cNvSpPr/>
          <p:nvPr/>
        </p:nvSpPr>
        <p:spPr>
          <a:xfrm>
            <a:off x="762000" y="1422400"/>
            <a:ext cx="5207000" cy="3048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B7816E-F2D7-6244-5F54-B504AA4523B5}"/>
              </a:ext>
            </a:extLst>
          </p:cNvPr>
          <p:cNvSpPr txBox="1"/>
          <p:nvPr/>
        </p:nvSpPr>
        <p:spPr>
          <a:xfrm>
            <a:off x="990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Appbar - icone + legenda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ABF6F4B-017F-5778-D97A-301C0C91AF71}"/>
              </a:ext>
            </a:extLst>
          </p:cNvPr>
          <p:cNvSpPr txBox="1"/>
          <p:nvPr/>
        </p:nvSpPr>
        <p:spPr>
          <a:xfrm>
            <a:off x="990600" y="2032000"/>
            <a:ext cx="47498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README, Testes e Comparar com legenda sempre visivel.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Comutador de tema (escuro/claro) e seletor de idioma PT/EN.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3 niveis de responsividade: &gt;=1100px titulo + legendas; 769-1100px so legendas; &lt;=768px so icones.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Acessibilidade: title e aria-label mantem o texto longo.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8525868-4D97-D145-3A8D-42C65735957C}"/>
              </a:ext>
            </a:extLst>
          </p:cNvPr>
          <p:cNvSpPr/>
          <p:nvPr/>
        </p:nvSpPr>
        <p:spPr>
          <a:xfrm>
            <a:off x="6223000" y="1422400"/>
            <a:ext cx="5207000" cy="3048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3E22E6-B306-1D94-5BEB-B36EADD10DDF}"/>
              </a:ext>
            </a:extLst>
          </p:cNvPr>
          <p:cNvSpPr txBox="1"/>
          <p:nvPr/>
        </p:nvSpPr>
        <p:spPr>
          <a:xfrm>
            <a:off x="6451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Paginas de leitura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38E736-55E9-71E7-B9CD-30741543B22F}"/>
              </a:ext>
            </a:extLst>
          </p:cNvPr>
          <p:cNvSpPr txBox="1"/>
          <p:nvPr/>
        </p:nvSpPr>
        <p:spPr>
          <a:xfrm>
            <a:off x="6451600" y="2032000"/>
            <a:ext cx="47498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Plano de Testes (/plano-de-testes) - 15 casos para avaliar juizes.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Comparar Modelos (/comparar-modelos) - guia de comparacao justa.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Ambas PT/EN, apenas leitura (Markdown via Markdig).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Botoes no cabecalho, nao no menu lateral.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878D088-DEA8-35B9-9266-6095EDD2315C}"/>
              </a:ext>
            </a:extLst>
          </p:cNvPr>
          <p:cNvSpPr/>
          <p:nvPr/>
        </p:nvSpPr>
        <p:spPr>
          <a:xfrm>
            <a:off x="762000" y="4724400"/>
            <a:ext cx="10668000" cy="1066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A094E9-C1BF-B9E5-F9F0-A6F03EF7ED57}"/>
              </a:ext>
            </a:extLst>
          </p:cNvPr>
          <p:cNvSpPr txBox="1"/>
          <p:nvPr/>
        </p:nvSpPr>
        <p:spPr>
          <a:xfrm>
            <a:off x="990600" y="4978400"/>
            <a:ext cx="10210800" cy="6096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As paginas de leitura resolvem o ficheiro pelo idioma da UI (cookie PT/EN) e interceptam as ancoras internas com scroll suave via wwwroot/js/markdown-anchors.js.</a:t>
            </a:r>
          </a:p>
        </p:txBody>
      </p:sp>
    </p:spTree>
    <p:extLst>
      <p:ext uri="{BB962C8B-B14F-4D97-AF65-F5344CB8AC3E}">
        <p14:creationId xmlns:p14="http://schemas.microsoft.com/office/powerpoint/2010/main" val="867866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2465E3-C3EC-9787-BFCF-2ED0A6C3EABA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Home (/)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7E3D40-AD14-0E48-17B2-D56C8CAFD8D3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531997-3D4B-37DE-52E8-1459C7AB347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F08326-306E-3FED-2CE4-D4AAC1CBA559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0962DF-574B-7FA6-E78E-280FD5EF9A4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7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FB7772-9C07-6760-4774-B9F746A761EC}"/>
              </a:ext>
            </a:extLst>
          </p:cNvPr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Proposito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pagina de entrada: verifica se o Ollama esta ativo e pre-carrega a cache de modelos.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Health check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OllamaChecker; se a base Ollama:BaseUrl nao responder, mostra FluentMessageBar de erro.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Cache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limpa o localStorage uma vez por sessao e popula ollamaModels e ollamaModelsFullV2.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Metadados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GET /api/tags + POST /api/show (contexto nativo, ano de treino, capacidade de reasoning).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Botao Readme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descarrega o README do GitHub e renderiza; sem internet, dialogo de erro.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Outputs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cards de acesso rapido, preview do README e barra de erro quando o Ollama esta em baixo.</a:t>
            </a:r>
          </a:p>
        </p:txBody>
      </p:sp>
    </p:spTree>
    <p:extLst>
      <p:ext uri="{BB962C8B-B14F-4D97-AF65-F5344CB8AC3E}">
        <p14:creationId xmlns:p14="http://schemas.microsoft.com/office/powerpoint/2010/main" val="1627904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6D2EC6-8458-04C8-B13B-DFA3D4B9BFA5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Chat (/chat) - fluxo principal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349AB5-E2BA-12EA-28F3-EC82933AC28B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22C756-385F-E6DB-B65A-1067D9904BF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C5222F-C7B6-04ED-2F72-99DF733304C1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8995BD-D968-F932-F1D8-F873F1C5A51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8 / 25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0F4CA9-6F1B-CE13-8EF4-AD0058DB831A}"/>
              </a:ext>
            </a:extLst>
          </p:cNvPr>
          <p:cNvSpPr/>
          <p:nvPr/>
        </p:nvSpPr>
        <p:spPr>
          <a:xfrm>
            <a:off x="762000" y="14224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9D3F27-71C6-74DC-10A3-E859C24B2BC1}"/>
              </a:ext>
            </a:extLst>
          </p:cNvPr>
          <p:cNvSpPr/>
          <p:nvPr/>
        </p:nvSpPr>
        <p:spPr>
          <a:xfrm>
            <a:off x="939800" y="15748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980C472-22A1-E72B-35C2-EDA75BC9B247}"/>
              </a:ext>
            </a:extLst>
          </p:cNvPr>
          <p:cNvSpPr txBox="1"/>
          <p:nvPr/>
        </p:nvSpPr>
        <p:spPr>
          <a:xfrm>
            <a:off x="1651000" y="15240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Persistir a mensagem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C77937-DAE4-C699-EE10-AAE4FFF3CB88}"/>
              </a:ext>
            </a:extLst>
          </p:cNvPr>
          <p:cNvSpPr txBox="1"/>
          <p:nvPr/>
        </p:nvSpPr>
        <p:spPr>
          <a:xfrm>
            <a:off x="1651000" y="18288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Cria a conversa (Conversas) e grava a mensagem (ConversaMensagens); titulo = primeiros 60 caracteres.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D45E35D-1D3D-13D1-FE2B-A19F071937DD}"/>
              </a:ext>
            </a:extLst>
          </p:cNvPr>
          <p:cNvSpPr/>
          <p:nvPr/>
        </p:nvSpPr>
        <p:spPr>
          <a:xfrm>
            <a:off x="762000" y="23368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9733ED-B267-A421-2B15-1B1B17C4BA6F}"/>
              </a:ext>
            </a:extLst>
          </p:cNvPr>
          <p:cNvSpPr/>
          <p:nvPr/>
        </p:nvSpPr>
        <p:spPr>
          <a:xfrm>
            <a:off x="939800" y="24892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9A8804-62E7-1ABC-BC12-BAC155CC9D6A}"/>
              </a:ext>
            </a:extLst>
          </p:cNvPr>
          <p:cNvSpPr txBox="1"/>
          <p:nvPr/>
        </p:nvSpPr>
        <p:spPr>
          <a:xfrm>
            <a:off x="1651000" y="24384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Calcular o contexto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8391B8-7AC0-645E-9EC1-18D58CC4B6F2}"/>
              </a:ext>
            </a:extLst>
          </p:cNvPr>
          <p:cNvSpPr txBox="1"/>
          <p:nvPr/>
        </p:nvSpPr>
        <p:spPr>
          <a:xfrm>
            <a:off x="1651000" y="27432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Contexto num_ctx efetivo automatico (VRAM / KV cache) e estimativa de tokens do novo prompt.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2350172-6989-7947-144B-217959F100BE}"/>
              </a:ext>
            </a:extLst>
          </p:cNvPr>
          <p:cNvSpPr/>
          <p:nvPr/>
        </p:nvSpPr>
        <p:spPr>
          <a:xfrm>
            <a:off x="762000" y="32512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C25A34-CB9A-A297-F70B-85C4061B381A}"/>
              </a:ext>
            </a:extLst>
          </p:cNvPr>
          <p:cNvSpPr/>
          <p:nvPr/>
        </p:nvSpPr>
        <p:spPr>
          <a:xfrm>
            <a:off x="939800" y="34036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604B5E4-3B34-89E2-88AE-BF87C515DBDA}"/>
              </a:ext>
            </a:extLst>
          </p:cNvPr>
          <p:cNvSpPr txBox="1"/>
          <p:nvPr/>
        </p:nvSpPr>
        <p:spPr>
          <a:xfrm>
            <a:off x="1651000" y="33528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Montar o payload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53837E-38A6-36A4-1F02-9DF98AE4DB4C}"/>
              </a:ext>
            </a:extLst>
          </p:cNvPr>
          <p:cNvSpPr txBox="1"/>
          <p:nvPr/>
        </p:nvSpPr>
        <p:spPr>
          <a:xfrm>
            <a:off x="1651000" y="36576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System prompt, historico aparado a 60%, temperatura, num_predict limitado pelo contexto e think.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DA57A76-F9F9-42F0-53BD-4419CA31FDD0}"/>
              </a:ext>
            </a:extLst>
          </p:cNvPr>
          <p:cNvSpPr/>
          <p:nvPr/>
        </p:nvSpPr>
        <p:spPr>
          <a:xfrm>
            <a:off x="762000" y="41656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E5644AD-CBD9-E463-E4F3-37316E03AC2A}"/>
              </a:ext>
            </a:extLst>
          </p:cNvPr>
          <p:cNvSpPr/>
          <p:nvPr/>
        </p:nvSpPr>
        <p:spPr>
          <a:xfrm>
            <a:off x="939800" y="43180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AEFE57A-07CF-AD98-D303-BF5B0D379E41}"/>
              </a:ext>
            </a:extLst>
          </p:cNvPr>
          <p:cNvSpPr txBox="1"/>
          <p:nvPr/>
        </p:nvSpPr>
        <p:spPr>
          <a:xfrm>
            <a:off x="1651000" y="42672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Streaming NDJSON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C933F3E-6CB8-C68B-B905-C093BC7C992A}"/>
              </a:ext>
            </a:extLst>
          </p:cNvPr>
          <p:cNvSpPr txBox="1"/>
          <p:nvPr/>
        </p:nvSpPr>
        <p:spPr>
          <a:xfrm>
            <a:off x="1651000" y="45720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C9D5EA"/>
                </a:solidFill>
                <a:latin typeface="Segoe UI" panose="020B0502040204020203" pitchFamily="34" charset="0"/>
              </a:rPr>
              <a:t>POST /api/chat - 1 linha por token; reasoning (reasoning_content/thinking) capturado a parte.</a:t>
            </a:r>
            <a:endParaRPr lang="pt-PT" sz="13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DDE8D8A-EF25-8AC5-8C08-B427AB575AEF}"/>
              </a:ext>
            </a:extLst>
          </p:cNvPr>
          <p:cNvSpPr/>
          <p:nvPr/>
        </p:nvSpPr>
        <p:spPr>
          <a:xfrm>
            <a:off x="762000" y="50800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2C7AB-D437-D790-615C-9551C76E6D5B}"/>
              </a:ext>
            </a:extLst>
          </p:cNvPr>
          <p:cNvSpPr/>
          <p:nvPr/>
        </p:nvSpPr>
        <p:spPr>
          <a:xfrm>
            <a:off x="939800" y="52324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443758E-0E3F-0748-546C-E2E65CFBA3C9}"/>
              </a:ext>
            </a:extLst>
          </p:cNvPr>
          <p:cNvSpPr txBox="1"/>
          <p:nvPr/>
        </p:nvSpPr>
        <p:spPr>
          <a:xfrm>
            <a:off x="1651000" y="51816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Concluir e gravar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69C1CA8-5788-F751-93FF-5B1387C6A69C}"/>
              </a:ext>
            </a:extLst>
          </p:cNvPr>
          <p:cNvSpPr txBox="1"/>
          <p:nvPr/>
        </p:nvSpPr>
        <p:spPr>
          <a:xfrm>
            <a:off x="1651000" y="54864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Metricas finais, benchmark automatico na BD, SUMMARY como descricao e auto-save sem dialogos.</a:t>
            </a:r>
          </a:p>
        </p:txBody>
      </p:sp>
    </p:spTree>
    <p:extLst>
      <p:ext uri="{BB962C8B-B14F-4D97-AF65-F5344CB8AC3E}">
        <p14:creationId xmlns:p14="http://schemas.microsoft.com/office/powerpoint/2010/main" val="2591828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7A5592-3EF1-37E6-3337-1F765ECB5888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Chat - interface e reasoning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185298-B415-CC11-963A-5C3A979D0597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902F7-9A1C-52BF-5320-C0FC3904002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A8636E-DC32-E71B-D8EC-FDD95E8E67D3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734556-E79C-9599-FE1E-664F4C56AFC5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9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35235E-E485-EDB2-C797-38E1976E20C0}"/>
              </a:ext>
            </a:extLst>
          </p:cNvPr>
          <p:cNvSpPr txBox="1"/>
          <p:nvPr/>
        </p:nvSpPr>
        <p:spPr>
          <a:xfrm>
            <a:off x="762000" y="1473200"/>
            <a:ext cx="10668000" cy="469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Modelo e GPU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seletor FluentSelect e badge "GPU OK" vs "CPU Fallback" (GpuInfoDialog).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Barra de contexto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"Contexto: X / Y tokens" e restantes; fica ambar a &gt;=90% de ocupacao.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Reasoning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bloco "Pensamento" colapsavel; o campo think e explicito (BD Chat:EnableReasoning, default false).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Sondagem local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qwen3 e smollm3 respeitam think:false (~11-15 s -&gt; ~0,05 s); deepseek-r1 ignora-o.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Novo Chat descarrega o modelo (keep_alive=0); Historico abre o HistoryPanel (benchmarks + conversas).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Cancelar durante o streaming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a mensagem termina com *(Cancelado)*.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Saida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markdown formatado, tempo em tempo real, badge de temperatura e auto-save imediato.</a:t>
            </a:r>
          </a:p>
        </p:txBody>
      </p:sp>
    </p:spTree>
    <p:extLst>
      <p:ext uri="{BB962C8B-B14F-4D97-AF65-F5344CB8AC3E}">
        <p14:creationId xmlns:p14="http://schemas.microsoft.com/office/powerpoint/2010/main" val="27946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80A18-AD95-3F92-72B4-1C4903071E89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Benchmarks - Avaliacoes (/benchmark-evaluations)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7C58D4-356B-9E25-95A7-E029926B7787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5C603-7912-E3EC-2F9B-291B3C8CDE8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29A329-C57B-195F-4013-8AC952296450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B8CA41-4B75-B732-9287-A725D772A767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10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A3A3E4-2E0B-E4FC-9DFB-E9D7C2A5EAB7}"/>
              </a:ext>
            </a:extLst>
          </p:cNvPr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Proposito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visao consolidada de todas as respostas com as avaliacoes dos juizes e metricas de desempenho.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Filtros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Todos / Por Avaliar / Avaliados, com pesquisa livre; grelha paginada (10 por pagina).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Detalhe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duplo clique ou botao "olho" - dialogo com tabs Metricas e Feedbacks dos Juizes.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Excel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ClosedXML; o workbook e gravado em %TEMP% e descarregado por HTTP (nao em base64 pelo SignalR).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Analise IA Local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- 100% local em C#, cancelavel, com sumario executivo e cards Mais Rapido / Melhor Avaliado.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Apagar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- 4 ambitos (filtrados / por avaliar / avaliados / todos) com confirmacao, ou linha individual.</a:t>
            </a:r>
          </a:p>
        </p:txBody>
      </p:sp>
    </p:spTree>
    <p:extLst>
      <p:ext uri="{BB962C8B-B14F-4D97-AF65-F5344CB8AC3E}">
        <p14:creationId xmlns:p14="http://schemas.microsoft.com/office/powerpoint/2010/main" val="317140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pattern="rectang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AFA6E1-80A0-A0F9-DEA6-A78487DFBE30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Qualidade e Metricas (/benchmarks)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39A40F-564B-0EF5-9746-29EC5F2AC28C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6596E0-B135-DA23-36DE-FAF0867455F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4A7121-8B53-69DE-FF9F-D2663939E3D8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8ADED1-8BFB-137C-C9E2-AF7DB3BD780F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11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527889-BB10-5458-F19E-AEDF5327A06C}"/>
              </a:ext>
            </a:extLst>
          </p:cNvPr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Split-view por prompt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cards de prompt a esquerda, respostas por modelo a direita.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Cada resposta mostra Tokens/s, Eval, Load e Tokens; o texto do modelo fica colapsado por defeito.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Graficos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tab Desempenho (4 barras) e tab Qualidade (2 radares por juiz, 12 metricas 0-5), com download.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Avaliacao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formulario de 12 metricas (1-5) + nota Global, com traducao de feedback (OpenRouter -&gt; Gemini -&gt; Ollama).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Avaliar automaticamente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prompt do juiz gerado, submetido a Gemini e OpenRouter, notas parseadas.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FluentSplitter responsivo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em &lt;=768px os painéis passam a vertical (JS interop de largura do viewport).</a:t>
            </a:r>
          </a:p>
        </p:txBody>
      </p:sp>
    </p:spTree>
    <p:extLst>
      <p:ext uri="{BB962C8B-B14F-4D97-AF65-F5344CB8AC3E}">
        <p14:creationId xmlns:p14="http://schemas.microsoft.com/office/powerpoint/2010/main" val="417831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C94017-790A-17BB-A0D8-D587797474BE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Avaliacao automatica pelos juizes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9B16EB-150D-AC6B-D05F-621D762F247C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85D03D-13DA-2BB9-71D4-C0A4F4E7674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759C8B-B477-564D-80E1-F762DCA58F25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417B10-5DFF-5DE8-22C0-FCD7C43A5E3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12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FC338B3-D1AB-D92C-4436-4385C367FE7A}"/>
              </a:ext>
            </a:extLst>
          </p:cNvPr>
          <p:cNvSpPr/>
          <p:nvPr/>
        </p:nvSpPr>
        <p:spPr>
          <a:xfrm>
            <a:off x="762000" y="1422400"/>
            <a:ext cx="5207000" cy="4064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48B0BE-6217-65F3-FA2A-D5BFBE97EED4}"/>
              </a:ext>
            </a:extLst>
          </p:cNvPr>
          <p:cNvSpPr txBox="1"/>
          <p:nvPr/>
        </p:nvSpPr>
        <p:spPr>
          <a:xfrm>
            <a:off x="990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 avaliacao em 4 passos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82110B-B350-EEEC-D4B3-D143CE3CA705}"/>
              </a:ext>
            </a:extLst>
          </p:cNvPr>
          <p:cNvSpPr txBox="1"/>
          <p:nvPr/>
        </p:nvSpPr>
        <p:spPr>
          <a:xfrm>
            <a:off x="990600" y="2057400"/>
            <a:ext cx="47498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•  1. Preparar prompt - /api/show + EvaluatePromptTemplate.</a:t>
            </a:r>
          </a:p>
          <a:p>
            <a:pPr>
              <a:spcAft>
                <a:spcPts val="1400"/>
              </a:spcAft>
            </a:pP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•  2. Juiz Gemini - gemini-flash-latest.</a:t>
            </a:r>
          </a:p>
          <a:p>
            <a:pPr>
              <a:spcAft>
                <a:spcPts val="1400"/>
              </a:spcAft>
            </a:pP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•  3. Juiz OpenRouter - openrouter/free (em paralelo).</a:t>
            </a:r>
          </a:p>
          <a:p>
            <a:pPr>
              <a:spcAft>
                <a:spcPts val="1400"/>
              </a:spcAft>
            </a:pP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•  4. Validar notas - EvaluationParser.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A9B779-4268-464C-5BFD-79FF4DF1352B}"/>
              </a:ext>
            </a:extLst>
          </p:cNvPr>
          <p:cNvSpPr txBox="1"/>
          <p:nvPr/>
        </p:nvSpPr>
        <p:spPr>
          <a:xfrm>
            <a:off x="990600" y="4826000"/>
            <a:ext cx="4749800" cy="508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250">
                <a:solidFill>
                  <a:srgbClr val="8C9EB8"/>
                </a:solidFill>
                <a:latin typeface="Segoe UI" panose="020B0502040204020203" pitchFamily="34" charset="0"/>
              </a:rPr>
              <a:t>Um juiz pode falhar sem bloquear o outro.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83E5BEA-1C22-899B-E6DB-7B26C9FB2FE0}"/>
              </a:ext>
            </a:extLst>
          </p:cNvPr>
          <p:cNvSpPr/>
          <p:nvPr/>
        </p:nvSpPr>
        <p:spPr>
          <a:xfrm>
            <a:off x="6223000" y="1422400"/>
            <a:ext cx="5207000" cy="4064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947B57-333D-A5E1-90C2-89E0B8759506}"/>
              </a:ext>
            </a:extLst>
          </p:cNvPr>
          <p:cNvSpPr txBox="1"/>
          <p:nvPr/>
        </p:nvSpPr>
        <p:spPr>
          <a:xfrm>
            <a:off x="6451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Regras e estados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6BE8F6-C5AD-09A5-0E09-F5517DA7749B}"/>
              </a:ext>
            </a:extLst>
          </p:cNvPr>
          <p:cNvSpPr txBox="1"/>
          <p:nvPr/>
        </p:nvSpPr>
        <p:spPr>
          <a:xfrm>
            <a:off x="6451600" y="2057400"/>
            <a:ext cx="4749800" cy="317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Quota - intervalo minimo de 60 s, marcado so apos sucesso.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Chaves - da pagina Settings (BD), com fallback em user-secrets.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Internet - verificada antes de gastar quota.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Falha total - dialogo de erro; a avaliacao nao abre.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Falha parcial - o juiz em falta fica editavel.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Progresso - barra com cronometro, 4 passos e Cancelar.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96D3FE0-F7EE-C24D-502E-E9C454152AD5}"/>
              </a:ext>
            </a:extLst>
          </p:cNvPr>
          <p:cNvSpPr/>
          <p:nvPr/>
        </p:nvSpPr>
        <p:spPr>
          <a:xfrm>
            <a:off x="762000" y="5638800"/>
            <a:ext cx="10668000" cy="558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1095EB1-6369-4946-4D23-3DF12420BABF}"/>
              </a:ext>
            </a:extLst>
          </p:cNvPr>
          <p:cNvSpPr txBox="1"/>
          <p:nvPr/>
        </p:nvSpPr>
        <p:spPr>
          <a:xfrm>
            <a:off x="990600" y="5765800"/>
            <a:ext cx="10210800" cy="3302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O botao "Copiar prompt" mantem o fallback manual - nao precisa de internet.</a:t>
            </a:r>
          </a:p>
        </p:txBody>
      </p:sp>
    </p:spTree>
    <p:extLst>
      <p:ext uri="{BB962C8B-B14F-4D97-AF65-F5344CB8AC3E}">
        <p14:creationId xmlns:p14="http://schemas.microsoft.com/office/powerpoint/2010/main" val="209713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99D886A-9857-7068-B32C-E1F9D2ED1CD9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Dashboard (/dashboard)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FB625D-DC1A-78ED-F4FE-EC312B0E73BE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5920DC-529D-E82F-6DA8-DADE0A50307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96D1C5-B9C1-6CC1-6C01-76D1D02F85F7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A9489E-8EF2-6038-807B-DFFC50FC973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13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3B7A11-91D3-54E6-B860-0F828BEA7104}"/>
              </a:ext>
            </a:extLst>
          </p:cNvPr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6 KPI cards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Melhor Modelo, Modelos avaliados, Cobertura, Prompts testados, Mais rapido e Maior divergencia.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2 radares de qualidade (um por juiz) com as 12 metricas em escala 0-5.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Scatter plot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tokens/s no eixo X vs. score no eixo Y, cor por modelo.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Evolucao do score ao longo do tempo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media acumulada por modelo (Chart.js).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Tabela classificativa ordenavel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Score, Gemini, OpenRouter, Tokens/s, Tempo, Divergencia.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Score ponderado pelo ScoreCalculator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pesos configuraveis e HaloEffect com peso 0.</a:t>
            </a:r>
          </a:p>
        </p:txBody>
      </p:sp>
    </p:spTree>
    <p:extLst>
      <p:ext uri="{BB962C8B-B14F-4D97-AF65-F5344CB8AC3E}">
        <p14:creationId xmlns:p14="http://schemas.microsoft.com/office/powerpoint/2010/main" val="3390628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honeycomb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E0136A-386A-0B88-B35E-BC2C9E7ED6DD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Modelos Carregados (/modelos-ollama)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F310220-1503-0A2B-1AC5-0132FB4563DA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839068-29C3-9F19-ACB3-AD6F890CCD0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D7FC4F-1A37-C0D2-F32B-8245A0498050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4BCE979-98D9-9C74-BA4A-E525473E2D5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14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9CC51D-579C-9F16-FBC4-F6304B251B75}"/>
              </a:ext>
            </a:extLst>
          </p:cNvPr>
          <p:cNvSpPr txBox="1"/>
          <p:nvPr/>
        </p:nvSpPr>
        <p:spPr>
          <a:xfrm>
            <a:off x="762000" y="1574800"/>
            <a:ext cx="10668000" cy="419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50" b="1">
                <a:solidFill>
                  <a:srgbClr val="38BDF8"/>
                </a:solidFill>
                <a:latin typeface="Segoe UI" panose="020B0502040204020203" pitchFamily="34" charset="0"/>
              </a:rPr>
              <a:t>Grelha</a:t>
            </a: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 - Nome, Familia, Parametros, Quantizacao, Ano de Treino, Contexto Maximo e Tamanho no Disco.</a:t>
            </a:r>
          </a:p>
          <a:p>
            <a:pPr>
              <a:spcAft>
                <a:spcPts val="1800"/>
              </a:spcAft>
            </a:pP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50" b="1">
                <a:solidFill>
                  <a:srgbClr val="38BDF8"/>
                </a:solidFill>
                <a:latin typeface="Segoe UI" panose="020B0502040204020203" pitchFamily="34" charset="0"/>
              </a:rPr>
              <a:t>Badge Raciocino</a:t>
            </a: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 - Suporta / Nao suporta / Desconhecido (array capabilities do /api/show).</a:t>
            </a:r>
          </a:p>
          <a:p>
            <a:pPr>
              <a:spcAft>
                <a:spcPts val="1800"/>
              </a:spcAft>
            </a:pP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50" b="1">
                <a:solidFill>
                  <a:srgbClr val="38BDF8"/>
                </a:solidFill>
                <a:latin typeface="Segoe UI" panose="020B0502040204020203" pitchFamily="34" charset="0"/>
              </a:rPr>
              <a:t>Badge GPU</a:t>
            </a: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 - Compativel / Excede VRAM / Leitura indisponivel (fotografia da VRAM livre).</a:t>
            </a:r>
          </a:p>
          <a:p>
            <a:pPr>
              <a:spcAft>
                <a:spcPts val="1800"/>
              </a:spcAft>
            </a:pP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•  Cache-first em localStorage (ollamaModelsFullV2), combinando /api/tags com /api/show.</a:t>
            </a:r>
          </a:p>
          <a:p>
            <a:pPr>
              <a:spcAft>
                <a:spcPts val="1800"/>
              </a:spcAft>
            </a:pPr>
            <a:r>
              <a:rPr lang="pt-PT" sz="1650">
                <a:solidFill>
                  <a:srgbClr val="C9D5EA"/>
                </a:solidFill>
                <a:latin typeface="Segoe UI" panose="020B0502040204020203" pitchFamily="34" charset="0"/>
              </a:rPr>
              <a:t>•  Toolbar sticky com a contagem de modelos e o botao "O que significa cada coluna?" (9 explicacoes).</a:t>
            </a:r>
          </a:p>
        </p:txBody>
      </p:sp>
    </p:spTree>
    <p:extLst>
      <p:ext uri="{BB962C8B-B14F-4D97-AF65-F5344CB8AC3E}">
        <p14:creationId xmlns:p14="http://schemas.microsoft.com/office/powerpoint/2010/main" val="3917953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F09937-788A-FA48-8B14-11B7F3A15365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Editar Prompts, Logs e Definicoes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CFA959-0D67-F291-5543-796E86BFF3D3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9663154-C493-BC8D-A950-CEA085ACA3A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0B0CB7-CC2D-1224-10AD-789C0648EE8A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4510D2-54ED-417A-BB76-CE4E352DAF3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15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283669B-791B-53DB-3E09-62EADDAB82DA}"/>
              </a:ext>
            </a:extLst>
          </p:cNvPr>
          <p:cNvSpPr/>
          <p:nvPr/>
        </p:nvSpPr>
        <p:spPr>
          <a:xfrm>
            <a:off x="762000" y="1422400"/>
            <a:ext cx="3302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1ED170-6BBB-2809-1E79-605179A09DC0}"/>
              </a:ext>
            </a:extLst>
          </p:cNvPr>
          <p:cNvSpPr txBox="1"/>
          <p:nvPr/>
        </p:nvSpPr>
        <p:spPr>
          <a:xfrm>
            <a:off x="965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Editar Prompts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A1C305-F5D9-41C8-D264-693DC88C729F}"/>
              </a:ext>
            </a:extLst>
          </p:cNvPr>
          <p:cNvSpPr txBox="1"/>
          <p:nvPr/>
        </p:nvSpPr>
        <p:spPr>
          <a:xfrm>
            <a:off x="965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150">
                <a:solidFill>
                  <a:srgbClr val="8C9EB8"/>
                </a:solidFill>
                <a:latin typeface="Segoe UI" panose="020B0502040204020203" pitchFamily="34" charset="0"/>
              </a:rPr>
              <a:t>/edit-prompts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DF006E8-AD18-0A32-9305-340440F9E20D}"/>
              </a:ext>
            </a:extLst>
          </p:cNvPr>
          <p:cNvSpPr txBox="1"/>
          <p:nvPr/>
        </p:nvSpPr>
        <p:spPr>
          <a:xfrm>
            <a:off x="965200" y="2362200"/>
            <a:ext cx="28956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Selecionar ficheiro Prompts/*.txt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Gravar, Cancelar e Sair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Aviso de alteracoes nao gravadas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Ativo sem recompilar a app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2496E6A-16D0-437E-60C9-3169381ECA2F}"/>
              </a:ext>
            </a:extLst>
          </p:cNvPr>
          <p:cNvSpPr/>
          <p:nvPr/>
        </p:nvSpPr>
        <p:spPr>
          <a:xfrm>
            <a:off x="4445000" y="1422400"/>
            <a:ext cx="3302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E71074-E9F3-C7B1-015C-FBE38DF9328C}"/>
              </a:ext>
            </a:extLst>
          </p:cNvPr>
          <p:cNvSpPr txBox="1"/>
          <p:nvPr/>
        </p:nvSpPr>
        <p:spPr>
          <a:xfrm>
            <a:off x="4648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Logs do Sistema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3545ED0-8C2A-0F56-E69E-9E1E81B3748E}"/>
              </a:ext>
            </a:extLst>
          </p:cNvPr>
          <p:cNvSpPr txBox="1"/>
          <p:nvPr/>
        </p:nvSpPr>
        <p:spPr>
          <a:xfrm>
            <a:off x="4648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150">
                <a:solidFill>
                  <a:srgbClr val="8C9EB8"/>
                </a:solidFill>
                <a:latin typeface="Segoe UI" panose="020B0502040204020203" pitchFamily="34" charset="0"/>
              </a:rPr>
              <a:t>/system-logs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CA28845-1700-A1CC-E6F3-F4E9E22C055A}"/>
              </a:ext>
            </a:extLst>
          </p:cNvPr>
          <p:cNvSpPr txBox="1"/>
          <p:nvPr/>
        </p:nvSpPr>
        <p:spPr>
          <a:xfrm>
            <a:off x="4648200" y="2362200"/>
            <a:ext cx="28956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Logs Serilog na tabela SQLite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Filtros por nivel + pesquisa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Detalhe com mensagem e excecao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Limpar e apagar com confirmacao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311EB33-5229-209E-267A-E5E5A5BBF689}"/>
              </a:ext>
            </a:extLst>
          </p:cNvPr>
          <p:cNvSpPr/>
          <p:nvPr/>
        </p:nvSpPr>
        <p:spPr>
          <a:xfrm>
            <a:off x="8128000" y="1422400"/>
            <a:ext cx="3302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189C492-F784-5021-4432-FDFC6C1E8C12}"/>
              </a:ext>
            </a:extLst>
          </p:cNvPr>
          <p:cNvSpPr txBox="1"/>
          <p:nvPr/>
        </p:nvSpPr>
        <p:spPr>
          <a:xfrm>
            <a:off x="8331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Definicoes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246286F-2284-A635-F604-3DC69A5D8A17}"/>
              </a:ext>
            </a:extLst>
          </p:cNvPr>
          <p:cNvSpPr txBox="1"/>
          <p:nvPr/>
        </p:nvSpPr>
        <p:spPr>
          <a:xfrm>
            <a:off x="8331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150">
                <a:solidFill>
                  <a:srgbClr val="8C9EB8"/>
                </a:solidFill>
                <a:latin typeface="Segoe UI" panose="020B0502040204020203" pitchFamily="34" charset="0"/>
              </a:rPr>
              <a:t>/settings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E66CD7A-B9CA-7AAF-5E10-152DBCAFDD82}"/>
              </a:ext>
            </a:extLst>
          </p:cNvPr>
          <p:cNvSpPr txBox="1"/>
          <p:nvPr/>
        </p:nvSpPr>
        <p:spPr>
          <a:xfrm>
            <a:off x="8331200" y="2362200"/>
            <a:ext cx="28956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Chaves Gemini/OpenRouter (BD)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Modelo OpenRouter por catalogo ao vivo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Toggle de reasoning (think)</a:t>
            </a:r>
          </a:p>
          <a:p>
            <a:pPr>
              <a:spcAft>
                <a:spcPts val="1000"/>
              </a:spcAft>
            </a:pPr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•  Dirty-tracking + dialogo de confirmacao</a:t>
            </a:r>
          </a:p>
        </p:txBody>
      </p:sp>
    </p:spTree>
    <p:extLst>
      <p:ext uri="{BB962C8B-B14F-4D97-AF65-F5344CB8AC3E}">
        <p14:creationId xmlns:p14="http://schemas.microsoft.com/office/powerpoint/2010/main" val="3905606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BE0490-6EA2-F0E4-2FDB-03B383A67ED8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Componentes partilhados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CE888B-1B58-3DD4-CD4F-206CAFA2467B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561AD9-91ED-1DC2-39C7-D39C6A2B9AA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4FBA0F-F23A-180A-739B-A80D9E450929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07326A-A44D-94AA-C9AE-508DE24A502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16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99F3623-89EF-A5F2-9607-59C43052E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416690"/>
              </p:ext>
            </p:extLst>
          </p:nvPr>
        </p:nvGraphicFramePr>
        <p:xfrm>
          <a:off x="762000" y="1422400"/>
          <a:ext cx="10668000" cy="4419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694454506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42135291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Componente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Uso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403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PageHeader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Cabecalho partilhado com gradiente #38BDF8 -&gt; #A78BFA e barra de acento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8582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HistoryPanel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Painel lateral com tabs Benchmarks e Conversas (export/import JSON)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693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CultureSelector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Comutacao PT/EN por cookie de cultura</a:t>
                      </a:r>
                      <a:endParaRPr lang="pt-PT" sz="1150" b="0">
                        <a:solidFill>
                          <a:srgbClr val="C9D5E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1737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BenchmarkEvaluation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Formulario de 12 metricas + Global, escala 1-5, com celulas fracas a vermelho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4568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BenchmarkEvaluationDialog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Formulario + traducao de feedback (OpenRouter -&gt; Gemini -&gt; Ollama)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54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BenchmarkEvaluationDetail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Dialogo 900px - tabs Metricas e Feedbacks dos Juizes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2724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BenchmarkChartDialog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4 barras de desempenho + 2 radares de qualidade, com download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445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BenchmarkAnalysisViewer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Painel da analise local (vazio / streaming / concluido)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8246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GpuInfoDialog / ModelColumnsInfo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Dialogos explicativos de GPU e das colunas da grelha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0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29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79B817-3BC6-2E9B-5B01-27F9D1728012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Dialogos principais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A1315C-C3C1-E918-67FB-1E8889B6776C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80231A-1726-8744-22B8-F1D5312889F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A339CC-882C-62B2-5C1B-0A50582C1A83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9BF355-0531-7B56-5F6A-300C87385EA4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17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A24BC5-9E7C-756A-65D4-16BDC7FAB47A}"/>
              </a:ext>
            </a:extLst>
          </p:cNvPr>
          <p:cNvSpPr/>
          <p:nvPr/>
        </p:nvSpPr>
        <p:spPr>
          <a:xfrm>
            <a:off x="762000" y="1422400"/>
            <a:ext cx="5207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52CF11-1116-8CE6-A938-78B881C3D861}"/>
              </a:ext>
            </a:extLst>
          </p:cNvPr>
          <p:cNvSpPr txBox="1"/>
          <p:nvPr/>
        </p:nvSpPr>
        <p:spPr>
          <a:xfrm>
            <a:off x="990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Avaliacao e traducao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FE4C27-8A21-535C-283E-A28CE661C0F3}"/>
              </a:ext>
            </a:extLst>
          </p:cNvPr>
          <p:cNvSpPr txBox="1"/>
          <p:nvPr/>
        </p:nvSpPr>
        <p:spPr>
          <a:xfrm>
            <a:off x="990600" y="2057400"/>
            <a:ext cx="4749800" cy="304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Detail - grelha Gemini vs OpenRouter e feedbacks lado a lado.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Caixa "Recomendacao do Juiz" quando ha campo RECOMMENDATION.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Metricas fracas destacadas a vermelho (&lt;=3; &lt;=2 em Seguranca).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Traducao com cronometro, sistema em uso e cancelamento.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0C4B12F-9551-6AF1-13D4-DC2D1F0443C2}"/>
              </a:ext>
            </a:extLst>
          </p:cNvPr>
          <p:cNvSpPr/>
          <p:nvPr/>
        </p:nvSpPr>
        <p:spPr>
          <a:xfrm>
            <a:off x="6223000" y="1422400"/>
            <a:ext cx="5207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68721B-BF70-53D2-0FE3-2203294842EE}"/>
              </a:ext>
            </a:extLst>
          </p:cNvPr>
          <p:cNvSpPr txBox="1"/>
          <p:nvPr/>
        </p:nvSpPr>
        <p:spPr>
          <a:xfrm>
            <a:off x="6451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Graficos e analise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E97BEA2-CB23-A61C-6671-7A3D76B58E79}"/>
              </a:ext>
            </a:extLst>
          </p:cNvPr>
          <p:cNvSpPr txBox="1"/>
          <p:nvPr/>
        </p:nvSpPr>
        <p:spPr>
          <a:xfrm>
            <a:off x="6451600" y="2057400"/>
            <a:ext cx="4749800" cy="304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ChartDialog - tabs Desempenho e Qualidade, download de imagem.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Analise IA Local - estados vazio, streaming e concluido; cancelavel.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Confirmacoes antes de analisar (multiplos prompts, por avaliar).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LogDetailDialog, ReadmePreview, GpuInfo e ModelColumnsInfo.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C4CE10C-1307-7930-2974-7B56B98BB21B}"/>
              </a:ext>
            </a:extLst>
          </p:cNvPr>
          <p:cNvSpPr/>
          <p:nvPr/>
        </p:nvSpPr>
        <p:spPr>
          <a:xfrm>
            <a:off x="762000" y="5511800"/>
            <a:ext cx="10668000" cy="685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DDC12D-2D68-8239-740B-929B343D5F14}"/>
              </a:ext>
            </a:extLst>
          </p:cNvPr>
          <p:cNvSpPr txBox="1"/>
          <p:nvPr/>
        </p:nvSpPr>
        <p:spPr>
          <a:xfrm>
            <a:off x="990600" y="5689600"/>
            <a:ext cx="10210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Todas as confirmacoes de eliminacao passam pelo IDialogService (Sim, Apagar / Cancelar).</a:t>
            </a:r>
          </a:p>
        </p:txBody>
      </p:sp>
    </p:spTree>
    <p:extLst>
      <p:ext uri="{BB962C8B-B14F-4D97-AF65-F5344CB8AC3E}">
        <p14:creationId xmlns:p14="http://schemas.microsoft.com/office/powerpoint/2010/main" val="3651247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22604C-C38E-D8F9-6D39-34009ED7C844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Origem real da avaliacao por juiz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A191021-4CD8-E916-93C1-FA77286E8111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2ABDBA3-498E-641B-89F3-133D4FE1535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3650F0-7C8F-D54C-F333-AC0F5BEF3ECA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D2C587-50D0-8A20-AB2B-FACB18DE2A78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18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25FE69E-8BB2-D472-9168-B49C79653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296104"/>
              </p:ext>
            </p:extLst>
          </p:nvPr>
        </p:nvGraphicFramePr>
        <p:xfrm>
          <a:off x="762000" y="1473200"/>
          <a:ext cx="10668000" cy="2463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50611869"/>
                    </a:ext>
                  </a:extLst>
                </a:gridCol>
                <a:gridCol w="8636000">
                  <a:extLst>
                    <a:ext uri="{9D8B030D-6E8A-4147-A177-3AD203B41FA5}">
                      <a16:colId xmlns:a16="http://schemas.microsoft.com/office/drawing/2014/main" val="401834334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Valor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Significado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34671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gemini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Slot preenchido automaticamente pelo servico do Gemini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03363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openrouter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Slot preenchido automaticamente pelo servico do OpenRouter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04613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externo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Conteudo colado ou preenchido manualmente pelo utilizador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19504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(null)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Sem resposta - ou registo legado com conteudo mas sem origem registada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27760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1C3CA593-3ADE-DC40-60C2-91450EBE746E}"/>
              </a:ext>
            </a:extLst>
          </p:cNvPr>
          <p:cNvSpPr txBox="1"/>
          <p:nvPr/>
        </p:nvSpPr>
        <p:spPr>
          <a:xfrm>
            <a:off x="762000" y="4267200"/>
            <a:ext cx="10668000" cy="190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00" b="1">
                <a:solidFill>
                  <a:srgbClr val="38BDF8"/>
                </a:solidFill>
                <a:latin typeface="Segoe UI" panose="020B0502040204020203" pitchFamily="34" charset="0"/>
              </a:rPr>
              <a:t>Os rotulos nunca mentem</a:t>
            </a: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 - uma avaliacao colada nao aparece como vinda da nuvem.</a:t>
            </a:r>
          </a:p>
          <a:p>
            <a:pPr>
              <a:spcAft>
                <a:spcPts val="14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Persistido em Respostas.Juiz1Origem / Juiz2Origem (migracao DatabaseSchemaInitializer).</a:t>
            </a:r>
          </a:p>
          <a:p>
            <a:pPr>
              <a:spcAft>
                <a:spcPts val="14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Usado em grelhas, formulario, detalhe, botoes de traducao e exportacao PDF.</a:t>
            </a:r>
          </a:p>
        </p:txBody>
      </p:sp>
    </p:spTree>
    <p:extLst>
      <p:ext uri="{BB962C8B-B14F-4D97-AF65-F5344CB8AC3E}">
        <p14:creationId xmlns:p14="http://schemas.microsoft.com/office/powerpoint/2010/main" val="2415278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allery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E2CEBA1-BF21-0CC4-4296-AD443E9A16AB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Camada de servicos (1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AE43A2-5854-A920-A668-770D098FCF70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5072349-1639-94A1-50D4-56C155969FD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574188-3875-C7EF-ABD9-B97D7E2DD6EA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8EE787-A984-3BEB-3AAF-922BD3BD771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19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E9AA29-5798-8943-FBC4-3F711A44C99F}"/>
              </a:ext>
            </a:extLst>
          </p:cNvPr>
          <p:cNvSpPr txBox="1"/>
          <p:nvPr/>
        </p:nvSpPr>
        <p:spPr>
          <a:xfrm>
            <a:off x="762000" y="1498600"/>
            <a:ext cx="10668000" cy="457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OllamaGpuService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/api/tags, /api/ps e /api/show; compatibilidade GPU e contexto efetivo automatico.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ChatComposerService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payload do chat: historico, temperatura, num_predict, num_ctx e think; extrai o SUMMARY.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ScoreCalculator / JudgeScoreWeights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score ponderado das 12 metricas (HaloEffect peso 0, renormalizacao).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AutomatedJudgeService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juizes Gemini e OpenRouter em paralelo, quota de 60 s e temperatura fixa em 0.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TranslationService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traducao de feedbacks com cadeia OpenRouter -&gt; Gemini -&gt; Ollama (temperature 0).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LocalAnalysisService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analise 100% local em C#, sem LLM, totalmente localizada (PT/EN).</a:t>
            </a:r>
          </a:p>
        </p:txBody>
      </p:sp>
    </p:spTree>
    <p:extLst>
      <p:ext uri="{BB962C8B-B14F-4D97-AF65-F5344CB8AC3E}">
        <p14:creationId xmlns:p14="http://schemas.microsoft.com/office/powerpoint/2010/main" val="1701886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allery dir="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196421A-468C-C293-019B-E3ECC01E8E89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Camada de servicos (2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0F3E56-3EE9-390E-D2C9-655AA5804A18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38F4C7-CD50-45C7-756F-B41A5FF3D01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94B223-057D-04E1-4966-A44D24B63E50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28426E-1037-9B87-7AA6-481220C0AEA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20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C89B2E-EE26-173A-B4C6-54989F6797E5}"/>
              </a:ext>
            </a:extLst>
          </p:cNvPr>
          <p:cNvSpPr txBox="1"/>
          <p:nvPr/>
        </p:nvSpPr>
        <p:spPr>
          <a:xfrm>
            <a:off x="762000" y="1498600"/>
            <a:ext cx="10668000" cy="457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PromptThemeClassifier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tema do prompt (Factual, Criativo, Conversacional, Codigo, Seguranca) para contextualizar o juiz.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JudgeLanguageGuard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limita Language Consistency a &lt;=2 quando a resposta esta noutra lingua.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EvaluationParser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parse de *_SCORE, FINAL_SCORE, DESCRIPTION/FEEDBACK, RECOMMENDATION e REFUSAL_HANDLED.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MessageFormatter (6 ficheiros partial)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pipeline de markdown: rescata fences, reconstrui tabelas, Markdig.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PromptFilesService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leitura/gravacao de Prompts/*.txt com protecao anti-path-traversal.</a:t>
            </a:r>
          </a:p>
          <a:p>
            <a:pPr>
              <a:spcAft>
                <a:spcPts val="16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ConversationRepository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- conversas em SQLite com export/import JSON; OllamaChecker e InternetConnectivityService.</a:t>
            </a:r>
          </a:p>
        </p:txBody>
      </p:sp>
    </p:spTree>
    <p:extLst>
      <p:ext uri="{BB962C8B-B14F-4D97-AF65-F5344CB8AC3E}">
        <p14:creationId xmlns:p14="http://schemas.microsoft.com/office/powerpoint/2010/main" val="4153683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conveyor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29A667-6E9F-B5F8-F9C2-93E4C5EF7BBA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Integracao com o Ollama - endpoints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1CA96F-C297-E420-A987-628B44AAB795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EE9A81-F1A2-DBB4-4161-BA180999067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E59108-29D7-70F8-6514-23EB95171666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0B5CE5-DA22-3970-9D19-EA6F375EFCA7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21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CEB7E33-E80B-2267-4B9B-75B30F7B8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08673"/>
              </p:ext>
            </p:extLst>
          </p:nvPr>
        </p:nvGraphicFramePr>
        <p:xfrm>
          <a:off x="762000" y="1422400"/>
          <a:ext cx="10668000" cy="375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7957001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7320496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873246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Endpoint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Servico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Uso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88613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GET /api/tags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OllamaGpuService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Lista de modelos locais (Home, Modelos)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1787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POST /api/show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OllamaGpuService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Contexto nativo, ano de treino, capabilities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8371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GET /api/ps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OllamaGpuService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Modelos em memoria (VRAM) para o contexto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628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POST /api/chat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Chat / TranslationService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Streaming NDJSON e traducao local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48554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POST /api/generate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Chat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Descarregar modelo (keep_alive=0)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4748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GET / (health)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OllamaChecker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Verificacao de que o Ollama esta ativo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32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POST openrouter.ai/api/v1/chat/completions</a:t>
                      </a:r>
                      <a:endParaRPr lang="pt-PT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Juizes / Traducao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Servico externo (HTTPS)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379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PT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POST generativelanguage.googleapis.com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Juizes / Traducao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Servico externo (HTTPS)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792279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5A031867-9DAD-3C8B-E940-0CA43EB16922}"/>
              </a:ext>
            </a:extLst>
          </p:cNvPr>
          <p:cNvSpPr txBox="1"/>
          <p:nvPr/>
        </p:nvSpPr>
        <p:spPr>
          <a:xfrm>
            <a:off x="762000" y="5715000"/>
            <a:ext cx="10668000" cy="457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250">
                <a:solidFill>
                  <a:srgbClr val="8C9EB8"/>
                </a:solidFill>
                <a:latin typeface="Segoe UI" panose="020B0502040204020203" pitchFamily="34" charset="0"/>
              </a:rPr>
              <a:t>Os seis primeiros usam Ollama:BaseUrl (default http://localhost:11434); os dois do meio sao externos (HTTPS).</a:t>
            </a:r>
          </a:p>
        </p:txBody>
      </p:sp>
    </p:spTree>
    <p:extLst>
      <p:ext uri="{BB962C8B-B14F-4D97-AF65-F5344CB8AC3E}">
        <p14:creationId xmlns:p14="http://schemas.microsoft.com/office/powerpoint/2010/main" val="3135109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conveyor dir="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4C29E-53D5-3675-6912-BD1DEE51BF6B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Streaming, contexto e temperatura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0648B2-81DE-1A04-7169-46F09F37D4F8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901E2E-1577-0DDD-BA89-DF4A2CA9340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711AF9-3368-37B3-6BA6-55D3A61DACCF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789664-B5A2-0007-C9EF-E2939C0E4D4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22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E10B3B4-8F29-E40A-CED9-F840D767E081}"/>
              </a:ext>
            </a:extLst>
          </p:cNvPr>
          <p:cNvSpPr/>
          <p:nvPr/>
        </p:nvSpPr>
        <p:spPr>
          <a:xfrm>
            <a:off x="762000" y="1422400"/>
            <a:ext cx="5207000" cy="3810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45477B-009E-3F70-9E20-D31B8048D11A}"/>
              </a:ext>
            </a:extLst>
          </p:cNvPr>
          <p:cNvSpPr txBox="1"/>
          <p:nvPr/>
        </p:nvSpPr>
        <p:spPr>
          <a:xfrm>
            <a:off x="990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Contexto efetivo (num_ctx)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5E76711-2220-7EC4-3A75-C0FA4F2F0AD0}"/>
              </a:ext>
            </a:extLst>
          </p:cNvPr>
          <p:cNvSpPr txBox="1"/>
          <p:nvPr/>
        </p:nvSpPr>
        <p:spPr>
          <a:xfrm>
            <a:off x="990600" y="2057400"/>
            <a:ext cx="4749800" cy="292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VRAM livre: nvidia-smi -&gt; WMI -&gt; 0.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Footprint: size_vram do /api/ps ou size x 1.2.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KV cache por token pela arquitetura do modelo.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clamp((VRAM - footprint - 350 MB - 10%) / KV; 1024..32768).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Sem detecao de VRAM -&gt; fallback seguro 2048.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11FC4EC-61D2-C04F-96DE-C7DFEBC3A97C}"/>
              </a:ext>
            </a:extLst>
          </p:cNvPr>
          <p:cNvSpPr/>
          <p:nvPr/>
        </p:nvSpPr>
        <p:spPr>
          <a:xfrm>
            <a:off x="6223000" y="1422400"/>
            <a:ext cx="5207000" cy="3810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20F359-E686-32F7-8FB5-00B17AC97C5D}"/>
              </a:ext>
            </a:extLst>
          </p:cNvPr>
          <p:cNvSpPr txBox="1"/>
          <p:nvPr/>
        </p:nvSpPr>
        <p:spPr>
          <a:xfrm>
            <a:off x="6451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Temperatura automatica (0.10-0.90)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03DB75-D98B-1AA2-35B5-7E971BDB07C0}"/>
              </a:ext>
            </a:extLst>
          </p:cNvPr>
          <p:cNvSpPr txBox="1"/>
          <p:nvPr/>
        </p:nvSpPr>
        <p:spPr>
          <a:xfrm>
            <a:off x="6451600" y="2057400"/>
            <a:ext cx="4749800" cy="292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Deteta codigo, frases e termos factuais/criativos (PT+EN).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Densidade de perguntas da boost factual.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Faixas: 0.10 factual forte ... 0.90 criativo forte.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num_predict 1800 (GPU) / 1200 (CPU), limitado pelo contexto.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repeat_penalty 1.1; top_k/top_p conforme a temperatura.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06B1413-1AB8-1E03-F3D8-E8C36EF4016E}"/>
              </a:ext>
            </a:extLst>
          </p:cNvPr>
          <p:cNvSpPr/>
          <p:nvPr/>
        </p:nvSpPr>
        <p:spPr>
          <a:xfrm>
            <a:off x="762000" y="5384800"/>
            <a:ext cx="10668000" cy="812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219798-783C-EA51-5195-E02E28D4DB5A}"/>
              </a:ext>
            </a:extLst>
          </p:cNvPr>
          <p:cNvSpPr txBox="1"/>
          <p:nvPr/>
        </p:nvSpPr>
        <p:spPr>
          <a:xfrm>
            <a:off x="990600" y="5588000"/>
            <a:ext cx="10210800" cy="508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Cliente "Ollama" com timeout de 10 min; historico aparado a 60%; metricas de benchmark gravadas no fim de cada troca.</a:t>
            </a:r>
          </a:p>
        </p:txBody>
      </p:sp>
    </p:spTree>
    <p:extLst>
      <p:ext uri="{BB962C8B-B14F-4D97-AF65-F5344CB8AC3E}">
        <p14:creationId xmlns:p14="http://schemas.microsoft.com/office/powerpoint/2010/main" val="3952539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d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856B27-ABE1-956C-7F1B-94C25438E786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Base de dados - SQLite (7 tabelas)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B78300-0A17-33CF-975D-670A847552B8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D31B42-26A7-EDB2-6308-DB7DB293DD3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31FC47-8091-4142-3703-08085682E490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925AAC-1BF6-32FB-D9B2-A2A587049AE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23 / 25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6854704-BF80-D231-09F0-016AA58CB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56028"/>
              </p:ext>
            </p:extLst>
          </p:nvPr>
        </p:nvGraphicFramePr>
        <p:xfrm>
          <a:off x="762000" y="1422400"/>
          <a:ext cx="10668000" cy="3505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280565264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7017587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Tabela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Conteudo principal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0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Prompts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Id, Descricao, TextoPrompt, DataCriacao, Temperatura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4094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Respostas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Modelo, metricas de velocidade, 12 notas + feedbacks por juiz, origem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4831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Conversas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Id, Titulo (primeiros 60 chars), NomeModelo, datas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9305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ConversaMensagens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ConversationId, Role, Content, Reasoning, Temperature, ElapsedTime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749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Configuracoes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Chave/Valor - chaves dos juizes, modelo OpenRouter, reasoning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2120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ModelosJuiz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Tabela legada de modelos ":free" do OpenRouter (sem uso pela UI)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6256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PT" sz="11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Logs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5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Serilog - Timestamp, Level, Exception, RenderedMessage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52038"/>
                  </a:ext>
                </a:extLst>
              </a:tr>
            </a:tbl>
          </a:graphicData>
        </a:graphic>
      </p:graphicFrame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62A5C78-AD21-DEAA-3568-9C091B10A273}"/>
              </a:ext>
            </a:extLst>
          </p:cNvPr>
          <p:cNvSpPr/>
          <p:nvPr/>
        </p:nvSpPr>
        <p:spPr>
          <a:xfrm>
            <a:off x="762000" y="5283200"/>
            <a:ext cx="10668000" cy="9144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90C404-B912-A562-39A6-C0CF85E8F3B1}"/>
              </a:ext>
            </a:extLst>
          </p:cNvPr>
          <p:cNvSpPr txBox="1"/>
          <p:nvPr/>
        </p:nvSpPr>
        <p:spPr>
          <a:xfrm>
            <a:off x="990600" y="5435600"/>
            <a:ext cx="10210800" cy="6604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250">
                <a:solidFill>
                  <a:srgbClr val="C9D5EA"/>
                </a:solidFill>
                <a:latin typeface="Segoe UI" panose="020B0502040204020203" pitchFamily="34" charset="0"/>
              </a:rPr>
              <a:t>Sem migracoes classicas - DatabaseSchemaInitializer cria as 7 tabelas e migra colunas no arranque (PRAGMA table_info), com ON DELETE CASCADE ativo. Caminho: OllamaArena/ollama_benchmark.db (gitignored).</a:t>
            </a:r>
          </a:p>
        </p:txBody>
      </p:sp>
    </p:spTree>
    <p:extLst>
      <p:ext uri="{BB962C8B-B14F-4D97-AF65-F5344CB8AC3E}">
        <p14:creationId xmlns:p14="http://schemas.microsoft.com/office/powerpoint/2010/main" val="2722261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B122E7E-8FEA-0D1C-C129-5D1E3140CA3F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Persistencia no browser e JS interop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0F8553-9E6C-9F67-30D6-CAF3EA7E304E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F5DA27-D19E-F7CE-2218-5C6C8520FFB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8783DF-22CF-A8C4-062E-0B993CBF5ADD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67F6DF-7240-7895-4C93-B286D74C485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24 / 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0D94793-C992-F6D9-B922-AC95363ACA1C}"/>
              </a:ext>
            </a:extLst>
          </p:cNvPr>
          <p:cNvSpPr/>
          <p:nvPr/>
        </p:nvSpPr>
        <p:spPr>
          <a:xfrm>
            <a:off x="762000" y="1422400"/>
            <a:ext cx="5207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04CA30-0839-FBD8-B04A-3982A9C15D7F}"/>
              </a:ext>
            </a:extLst>
          </p:cNvPr>
          <p:cNvSpPr txBox="1"/>
          <p:nvPr/>
        </p:nvSpPr>
        <p:spPr>
          <a:xfrm>
            <a:off x="990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localStorage / sessionStorage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EA52F48-E82F-B481-BFA4-9B412AE10A74}"/>
              </a:ext>
            </a:extLst>
          </p:cNvPr>
          <p:cNvSpPr txBox="1"/>
          <p:nvPr/>
        </p:nvSpPr>
        <p:spPr>
          <a:xfrm>
            <a:off x="990600" y="2057400"/>
            <a:ext cx="4749800" cy="304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ollamaModels - nomes dos modelos locais.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ollamaModelsFullV2 - metadados (contexto, ano, thinking).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ollama_model - modelo selecionado no chat.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theme - tema FluentUI; ollamaCacheCleared - flag de sessao.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Juizes NAO usam localStorage - ficam em Configuracoes (BD).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0789B70-5549-8F4D-C18C-E68FB19FAAA5}"/>
              </a:ext>
            </a:extLst>
          </p:cNvPr>
          <p:cNvSpPr/>
          <p:nvPr/>
        </p:nvSpPr>
        <p:spPr>
          <a:xfrm>
            <a:off x="6223000" y="1422400"/>
            <a:ext cx="5207000" cy="3937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FA3C90-3A28-837A-7081-E0FDA6F75F68}"/>
              </a:ext>
            </a:extLst>
          </p:cNvPr>
          <p:cNvSpPr txBox="1"/>
          <p:nvPr/>
        </p:nvSpPr>
        <p:spPr>
          <a:xfrm>
            <a:off x="6451600" y="1574800"/>
            <a:ext cx="4749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JS interop (wwwroot/js/)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CC90CD-276B-3A86-7989-09559861C997}"/>
              </a:ext>
            </a:extLst>
          </p:cNvPr>
          <p:cNvSpPr txBox="1"/>
          <p:nvPr/>
        </p:nvSpPr>
        <p:spPr>
          <a:xfrm>
            <a:off x="6451600" y="2057400"/>
            <a:ext cx="4749800" cy="304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graficos.js - benchmarkCharts (barras/radares) e download.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excel.js - download do Excel via fetch + Blob.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pdf.js - relatorio PDF com fontes TTF embebidas.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chat.js, clipboard.js e conversations.js - chat e JSON.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markdown-anchors.js e viewport.js - ancoras e splitter.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F3DD7E6-A353-353A-575E-B5532F87D4B5}"/>
              </a:ext>
            </a:extLst>
          </p:cNvPr>
          <p:cNvSpPr/>
          <p:nvPr/>
        </p:nvSpPr>
        <p:spPr>
          <a:xfrm>
            <a:off x="762000" y="5511800"/>
            <a:ext cx="10668000" cy="685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5E7BC5-8923-2B06-735D-B8A3F21F4147}"/>
              </a:ext>
            </a:extLst>
          </p:cNvPr>
          <p:cNvSpPr txBox="1"/>
          <p:nvPr/>
        </p:nvSpPr>
        <p:spPr>
          <a:xfrm>
            <a:off x="990600" y="5689600"/>
            <a:ext cx="10210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As definicoes dos juizes vivem na BD (tabela Configuracoes) com prioridade BD -&gt; configuracao -&gt; default.</a:t>
            </a:r>
          </a:p>
        </p:txBody>
      </p:sp>
    </p:spTree>
    <p:extLst>
      <p:ext uri="{BB962C8B-B14F-4D97-AF65-F5344CB8AC3E}">
        <p14:creationId xmlns:p14="http://schemas.microsoft.com/office/powerpoint/2010/main" val="1912148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9142FA-E778-2993-A423-4EAAE7A0F4CB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Logging, configuracao e deploy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02F0B2-23BE-D708-4E44-7AE992CCC265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A82506-E4E3-0B0E-F55D-A3F12586895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1D093C-F7E1-DBEB-5581-48BAFC158962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B2D701-DD46-36DD-686D-33E5F235199F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25 / 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91B9C5-DC39-C914-9EE0-B8543F000A06}"/>
              </a:ext>
            </a:extLst>
          </p:cNvPr>
          <p:cNvSpPr txBox="1"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Serilog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console + sink SQLite (tabela Logs), nivel minimo Warning; consulta e filtro em /system-logs.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Configuracao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appsettings.json + appsettings.Local.json; chaves recomendadas na pagina Settings (BD).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Localizacao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PT por defeito + EN por cookie; respostas, traducoes e analise seguem a lingua da sessao.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Testes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- 257 testes xUnit (OllamaArena.Tests); validacao = build + testes + execucao manual.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Deploy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GitHub Actions publica e faz deploy em IIS (self-hosted), preservando a BD; smoke test HTTP 200.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Runtime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- "ollama serve" ativo na base Ollama:BaseUrl (default http://localhost:11434).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D7B9CD6-7553-F24A-7A4F-2BF907D1C6E5}"/>
              </a:ext>
            </a:extLst>
          </p:cNvPr>
          <p:cNvSpPr/>
          <p:nvPr/>
        </p:nvSpPr>
        <p:spPr>
          <a:xfrm>
            <a:off x="762000" y="5384800"/>
            <a:ext cx="10668000" cy="812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F6AFC8-1465-A808-F85C-FCAB57EF5964}"/>
              </a:ext>
            </a:extLst>
          </p:cNvPr>
          <p:cNvSpPr txBox="1"/>
          <p:nvPr/>
        </p:nvSpPr>
        <p:spPr>
          <a:xfrm>
            <a:off x="990600" y="5588000"/>
            <a:ext cx="10210800" cy="508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Fonte desta apresentacao: OllamaArena/Docs/Funcionalidades.md - regenerar com gerar_funcionalidades.ps1.</a:t>
            </a:r>
          </a:p>
        </p:txBody>
      </p:sp>
    </p:spTree>
    <p:extLst>
      <p:ext uri="{BB962C8B-B14F-4D97-AF65-F5344CB8AC3E}">
        <p14:creationId xmlns:p14="http://schemas.microsoft.com/office/powerpoint/2010/main" val="3584416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3343</Words>
  <Application>Microsoft Office PowerPoint</Application>
  <PresentationFormat>Personalizados</PresentationFormat>
  <Paragraphs>364</Paragraphs>
  <Slides>25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Luis</dc:creator>
  <cp:lastModifiedBy>Fausto Luis</cp:lastModifiedBy>
  <cp:revision>1</cp:revision>
  <dcterms:created xsi:type="dcterms:W3CDTF">2026-10-06T13:05:24Z</dcterms:created>
  <dcterms:modified xsi:type="dcterms:W3CDTF">2026-10-06T13:05:24Z</dcterms:modified>
</cp:coreProperties>
</file>