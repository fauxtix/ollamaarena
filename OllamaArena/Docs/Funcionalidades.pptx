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5CF22B-85F1-A692-0E91-FCEC44166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0642445-0164-F020-5530-682D0D10E6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A6CE3A81-83DE-AD37-885D-34EF1B0BF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6F9B290D-1221-C3A8-974A-7EA2F3FE2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2855B70-DCAF-E868-2945-6FA32F395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82407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BEFDEC-93CF-1B93-00CB-C330FCD67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C2DE8BF-3398-4ACA-5512-65A266C10F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51CFE0D-5249-BFCE-616A-072D6AAB1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3841A21-2B2D-E7C8-7558-8F5E70DDD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2684590-5218-4E00-F55F-AAA65413B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9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4A66E1-D4EA-1DEC-AEC6-C4F668B36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33A7CDDC-21AC-9C3C-6D08-70B2FFF8C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74E64BCC-7544-5DC9-E059-1AC1286EE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B3B9951-D32C-08CC-8E8A-A342CAB94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79C4C21-A658-408E-226C-7900059D4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99860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8818BF-2CC3-92AE-87F6-27C469E85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833E0565-DE6C-E6C2-560E-DA2A6A64BC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2A25E04-18BD-8E99-4648-84027AA56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606F34A-0F06-00B4-60C6-64FDC8A36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2295A64-D8CA-B458-61D1-EEEE117B5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BAFEB56A-765F-8B14-7C08-265642513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5928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D8622B-BBE4-33FF-39EA-C4037D4C8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D8BD74CF-33C6-8526-7E33-0EFA12F14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64112BA-C574-6CF2-736A-1A1A343683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F14CDFC6-264B-9ED2-2C92-A2ABD33213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E49A3395-6D20-942B-9AE2-5020FD867E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C7A897DA-4B33-495F-8FAC-0FCEC993F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4D0561EF-9DC9-5B78-7940-50398472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14F282A3-A6CC-0EB4-8027-5211B600A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5336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235F95-D9CB-2499-AF15-EDF984A17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D4E34EA8-12D8-481B-3670-7740AE6A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45D8D07A-05CE-523B-5A8E-792620BFA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3299576E-21B2-71FB-EAE2-EF983A485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09941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4289D699-0D0D-2727-9759-948E03C6F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57C11762-1843-AF10-EC47-C7632BDA5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C49E59C-2D81-A90B-E4FB-D9356C92C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44534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C37954-53CC-1C11-AB26-463AB04A7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6C44884-26BE-0810-3FE0-7CFAD6353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B7C8FC65-91E9-D147-A128-67562B6B8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24133730-9904-25A2-862A-F10ED018D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83C36694-7F5B-1218-7651-8C1351519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7C4BBF5E-0DF2-CD8D-ED82-585528766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83690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073E56-5202-AFE9-0894-9ABAF5D8C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DB6AC2F9-9553-8C18-6B07-A85FC6B220C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D4C7EF99-64A6-5ADB-8479-C51C597395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59B3A36-A690-E1EC-7455-71245EC0B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D73D7BD8-E3CE-878B-160C-448EBE2AA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26DB3241-D486-2E16-8E03-F646C4CE7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16607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3C20DB-6D74-C3E1-6687-F4B260613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9386960A-E3E9-BBF8-5E9A-FBF2455CD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2452BA51-E65A-D38E-89A1-B9416962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E027E74-E2AD-7FB5-1465-B7DCF0BB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0EBF568-28A7-1AC4-793E-26AE70079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0463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37B2593-B894-E258-5E4D-E7A587CAF4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3FE321CC-0CB1-0B7F-A090-AEEACC1233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560410E-AA3F-F6CA-7D64-F806634D8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439AFEB-D21C-962A-2E0D-BE866FC81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1FA3784-F61E-9E55-BFC5-0E0232936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82914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F093B805-28E8-D8DB-3A6A-2E95A161C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5D90EE95-AE3D-32C5-B601-9FF387E50D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14A3658-0147-A87B-BF15-93B91463F9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0C43D-FB6B-47F3-B10D-68B223D2E940}" type="datetimeFigureOut">
              <a:rPr lang="pt-PT" smtClean="0"/>
              <a:t>13/10/2026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F5EB94B-FAF4-E8CE-B6F8-F92897666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0B11340-6BEC-11AE-55A2-76DE8A6B7A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3C86CB-7EC3-4464-9F44-14EE0647213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1662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7DA6713-6500-687D-9828-D65EBCAE71F3}"/>
              </a:ext>
            </a:extLst>
          </p:cNvPr>
          <p:cNvSpPr txBox="1"/>
          <p:nvPr/>
        </p:nvSpPr>
        <p:spPr>
          <a:xfrm>
            <a:off x="762000" y="1905000"/>
            <a:ext cx="10668000" cy="1016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pPr algn="ctr"/>
            <a:r>
              <a:rPr lang="pt-PT" sz="4400" b="1">
                <a:solidFill>
                  <a:srgbClr val="FFFFFF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0BD4A9C-8053-2470-BE5B-0728057E6A16}"/>
              </a:ext>
            </a:extLst>
          </p:cNvPr>
          <p:cNvSpPr/>
          <p:nvPr/>
        </p:nvSpPr>
        <p:spPr>
          <a:xfrm>
            <a:off x="5334000" y="3098800"/>
            <a:ext cx="1524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2E6E6AD-B138-81D0-6A9D-014389B6245E}"/>
              </a:ext>
            </a:extLst>
          </p:cNvPr>
          <p:cNvSpPr txBox="1"/>
          <p:nvPr/>
        </p:nvSpPr>
        <p:spPr>
          <a:xfrm>
            <a:off x="762000" y="3429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pPr algn="ctr"/>
            <a:r>
              <a:rPr lang="pt-PT" sz="2000">
                <a:solidFill>
                  <a:srgbClr val="C9D5EA"/>
                </a:solidFill>
                <a:latin typeface="Segoe UI" panose="020B0502040204020203" pitchFamily="34" charset="0"/>
              </a:rPr>
              <a:t>Chat local com Ollama e laboratorio de benchmarks "LLM-as-a-judge"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EDFB3B0-67B6-1607-AEE5-27E22E1D758D}"/>
              </a:ext>
            </a:extLst>
          </p:cNvPr>
          <p:cNvSpPr txBox="1"/>
          <p:nvPr/>
        </p:nvSpPr>
        <p:spPr>
          <a:xfrm>
            <a:off x="762000" y="4064000"/>
            <a:ext cx="106680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pPr algn="ctr"/>
            <a:r>
              <a:rPr lang="pt-PT" sz="1400">
                <a:solidFill>
                  <a:srgbClr val="8C9EB8"/>
                </a:solidFill>
                <a:latin typeface="Segoe UI" panose="020B0502040204020203" pitchFamily="34" charset="0"/>
              </a:rPr>
              <a:t>Documentacao tecnica - Blazor Server (.NET 10) | FluentUI | SQLite | Serilog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25F69A2-D12E-8997-C281-DAEFBCDB9D95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04F054A-1F7F-52FF-54F8-C8C5FCBB38B9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F1F285A-2627-20DB-F94A-C3675E1C56AD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 / 25</a:t>
            </a:r>
          </a:p>
        </p:txBody>
      </p:sp>
    </p:spTree>
    <p:extLst>
      <p:ext uri="{BB962C8B-B14F-4D97-AF65-F5344CB8AC3E}">
        <p14:creationId xmlns:p14="http://schemas.microsoft.com/office/powerpoint/2010/main" val="2715679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:fade thruBlk="1"/>
      </p:transition>
    </mc:Choice>
    <mc:Fallback>
      <p:transition spd="slow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1E786EBF-FCDE-67F6-6F90-77F6B1BA2973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Visao geral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40B2992-EE91-00E4-070F-D8DF73B01FAD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B704B5F-B1B3-0401-56CE-D85EE9249E1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56E3590-023F-A04F-46EB-FB5460CCC5C0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4A69813-87F7-E4D4-C100-69B8266DCD7B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00794F5-C927-84F6-A202-D3AA4AF07022}"/>
              </a:ext>
            </a:extLst>
          </p:cNvPr>
          <p:cNvSpPr txBox="1"/>
          <p:nvPr/>
        </p:nvSpPr>
        <p:spPr>
          <a:xfrm>
            <a:off x="762000" y="1524000"/>
            <a:ext cx="10668000" cy="444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2000"/>
              </a:spcAft>
            </a:pP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700" b="1">
                <a:solidFill>
                  <a:srgbClr val="38BDF8"/>
                </a:solidFill>
                <a:latin typeface="Segoe UI" panose="020B0502040204020203" pitchFamily="34" charset="0"/>
              </a:rPr>
              <a:t>Chat local</a:t>
            </a: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 - conversa com modelos Ollama em streaming NDJSON, com barra de contexto e reasoning opcional.</a:t>
            </a:r>
          </a:p>
          <a:p>
            <a:pPr>
              <a:spcAft>
                <a:spcPts val="2000"/>
              </a:spcAft>
            </a:pP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700" b="1">
                <a:solidFill>
                  <a:srgbClr val="38BDF8"/>
                </a:solidFill>
                <a:latin typeface="Segoe UI" panose="020B0502040204020203" pitchFamily="34" charset="0"/>
              </a:rPr>
              <a:t>Benchmarks</a:t>
            </a: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 - cada troca e gravada como resposta de benchmark, com metricas de velocidade automaticas.</a:t>
            </a:r>
          </a:p>
          <a:p>
            <a:pPr>
              <a:spcAft>
                <a:spcPts val="2000"/>
              </a:spcAft>
            </a:pP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700" b="1">
                <a:solidFill>
                  <a:srgbClr val="38BDF8"/>
                </a:solidFill>
                <a:latin typeface="Segoe UI" panose="020B0502040204020203" pitchFamily="34" charset="0"/>
              </a:rPr>
              <a:t>LLM-as-a-judge</a:t>
            </a: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 - a qualidade e avaliada por dois juizes (Gemini e OpenRouter) mais analise local em C#.</a:t>
            </a:r>
          </a:p>
          <a:p>
            <a:pPr>
              <a:spcAft>
                <a:spcPts val="2000"/>
              </a:spcAft>
            </a:pP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700" b="1">
                <a:solidFill>
                  <a:srgbClr val="38BDF8"/>
                </a:solidFill>
                <a:latin typeface="Segoe UI" panose="020B0502040204020203" pitchFamily="34" charset="0"/>
              </a:rPr>
              <a:t>UI</a:t>
            </a: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 - FluentUI Blazor v4 (DataGrid, Dialog, Splitter, NavMenu) com tema escuro/claro e idioma PT/EN.</a:t>
            </a:r>
          </a:p>
          <a:p>
            <a:pPr>
              <a:spcAft>
                <a:spcPts val="2000"/>
              </a:spcAft>
            </a:pP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700" b="1">
                <a:solidFill>
                  <a:srgbClr val="38BDF8"/>
                </a:solidFill>
                <a:latin typeface="Segoe UI" panose="020B0502040204020203" pitchFamily="34" charset="0"/>
              </a:rPr>
              <a:t>Dados</a:t>
            </a: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 - SQLite via Dapper (schema criado de forma lazily + migracao idempotente) e Serilog (tabela Logs).</a:t>
            </a:r>
          </a:p>
          <a:p>
            <a:pPr>
              <a:spcAft>
                <a:spcPts val="2000"/>
              </a:spcAft>
            </a:pP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700" b="1">
                <a:solidFill>
                  <a:srgbClr val="38BDF8"/>
                </a:solidFill>
                <a:latin typeface="Segoe UI" panose="020B0502040204020203" pitchFamily="34" charset="0"/>
              </a:rPr>
              <a:t>Ollama</a:t>
            </a:r>
            <a:r>
              <a:rPr lang="pt-PT" sz="1700">
                <a:solidFill>
                  <a:srgbClr val="C9D5EA"/>
                </a:solidFill>
                <a:latin typeface="Segoe UI" panose="020B0502040204020203" pitchFamily="34" charset="0"/>
              </a:rPr>
              <a:t> - comunicacao direta por HTTP (streaming em /api/chat), sem wrappers de terceiros.</a:t>
            </a:r>
          </a:p>
        </p:txBody>
      </p:sp>
    </p:spTree>
    <p:extLst>
      <p:ext uri="{BB962C8B-B14F-4D97-AF65-F5344CB8AC3E}">
        <p14:creationId xmlns:p14="http://schemas.microsoft.com/office/powerpoint/2010/main" val="38351570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vortex dir="d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92C56C8-C206-7E8B-E435-5C9C0AD7647E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Stack e arquitetura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841E47F-5D0E-404C-5C7E-0D2CCC238C7F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B6523CA-30C7-8BCA-3712-F5CC120FF5D9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5639331-8536-6F50-2082-8C2FBCD7AA9B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342CF8C-FB91-4519-359B-17EEE882FA85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3 / 25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D3280590-B85A-AA41-C8AF-F5809F652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8862805"/>
              </p:ext>
            </p:extLst>
          </p:nvPr>
        </p:nvGraphicFramePr>
        <p:xfrm>
          <a:off x="762000" y="1473200"/>
          <a:ext cx="10668000" cy="3378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3821339311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3796080400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pt-PT" sz="13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Camada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3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Tecnologia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0408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Frontend/Backend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Blazor Server (.NET 10), Razor Components (Interactive Server)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19049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UI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Microsoft FluentUI.AspNetCore.Components v4.14.2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66715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Dados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Dapper + Microsoft.Data.Sqlite (ollama_benchmark.db)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50985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Logging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Serilog - Console + sink SQLite (tabela "Logs")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189413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LLM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Ollama local - /api/chat, /api/tags, /api/show, /api/ps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60579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Outros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ClosedXML (Excel), Markdig (markdown), Chart.js via JS interop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391305"/>
                  </a:ext>
                </a:extLst>
              </a:tr>
            </a:tbl>
          </a:graphicData>
        </a:graphic>
      </p:graphicFrame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29E2F21E-DEB1-3768-71BD-89DE7DE55A39}"/>
              </a:ext>
            </a:extLst>
          </p:cNvPr>
          <p:cNvSpPr/>
          <p:nvPr/>
        </p:nvSpPr>
        <p:spPr>
          <a:xfrm>
            <a:off x="762000" y="5130800"/>
            <a:ext cx="10668000" cy="9652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AB64C06-A043-F3E0-BA9F-B6A15B8ED4A1}"/>
              </a:ext>
            </a:extLst>
          </p:cNvPr>
          <p:cNvSpPr txBox="1"/>
          <p:nvPr/>
        </p:nvSpPr>
        <p:spPr>
          <a:xfrm>
            <a:off x="990600" y="5308600"/>
            <a:ext cx="10210800" cy="6604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Build: dotnet build OllamaArena.slnx - app + projeto de testes (xUnit). A Ollama fala-se por HTTP direto (cliente nomeado "Ollama"); o pacote OllamaSharp foi removido como dependencia morta.</a:t>
            </a:r>
          </a:p>
        </p:txBody>
      </p:sp>
    </p:spTree>
    <p:extLst>
      <p:ext uri="{BB962C8B-B14F-4D97-AF65-F5344CB8AC3E}">
        <p14:creationId xmlns:p14="http://schemas.microsoft.com/office/powerpoint/2010/main" val="7090714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switch dir="l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701053D-C446-4BEA-F754-21C439D0FE14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Organizacao do projeto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BCF091E-F11B-1856-057A-3E7989B6F8E0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53BF850-FB07-4A35-CCFC-8810330B86FD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6752026-53B9-04EE-C9F8-D556D0A6DF23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114D024-EF38-E551-56D8-0D2F1B93848E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4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29C34A9-2D0F-543D-084E-A8BE29CDE5DA}"/>
              </a:ext>
            </a:extLst>
          </p:cNvPr>
          <p:cNvSpPr txBox="1"/>
          <p:nvPr/>
        </p:nvSpPr>
        <p:spPr>
          <a:xfrm>
            <a:off x="762000" y="1498600"/>
            <a:ext cx="10668000" cy="457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6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Components/Pages/*.razor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paginas com rota; Components/Pages/Components - componentes reutilizaveis.</a:t>
            </a:r>
          </a:p>
          <a:p>
            <a:pPr>
              <a:spcAft>
                <a:spcPts val="16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Components/Layout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MainLayout, NavMenu (drawer em mobile) e ReconnectModal.</a:t>
            </a:r>
          </a:p>
          <a:p>
            <a:pPr>
              <a:spcAft>
                <a:spcPts val="16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Services/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ChatComposerService, AutomatedJudgeService, TranslationService, repositorios e helpers.</a:t>
            </a:r>
          </a:p>
          <a:p>
            <a:pPr>
              <a:spcAft>
                <a:spcPts val="16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Models/DTO (shapes da API) e Models/Entities (mapeamento SQLite via Dapper).</a:t>
            </a:r>
          </a:p>
          <a:p>
            <a:pPr>
              <a:spcAft>
                <a:spcPts val="16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Prompts/*.txt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prompts editaveis em runtime; PromptTemplates/ - construtores de prompt em C#.</a:t>
            </a:r>
          </a:p>
          <a:p>
            <a:pPr>
              <a:spcAft>
                <a:spcPts val="16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PlanoDeTestes/ e ComoCompararModelos/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documentos PT+EN das paginas de leitura.</a:t>
            </a:r>
          </a:p>
          <a:p>
            <a:pPr>
              <a:spcAft>
                <a:spcPts val="16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wwwroot/fonts/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TTF embebidos no relatorio PDF; Screenshots/ - capturas e decks .pptx gerados.</a:t>
            </a:r>
          </a:p>
        </p:txBody>
      </p:sp>
    </p:spTree>
    <p:extLst>
      <p:ext uri="{BB962C8B-B14F-4D97-AF65-F5344CB8AC3E}">
        <p14:creationId xmlns:p14="http://schemas.microsoft.com/office/powerpoint/2010/main" val="38238747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switch dir="r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726E164-B34B-30B6-05FA-D5D6A7DA880D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Navegacao - menu lateral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3D8D384-3A7D-2C57-412B-3FC65BB94AC7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3746FCC-4753-4AD2-72B5-8DF1CBBB884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7E766F7-0575-83DA-58E9-EE5FB5810825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572C929-9AE1-CB82-CD6E-CD8A7AADEA6F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5 / 25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1FE78E7B-5414-75D5-192A-16470BE6C4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344950"/>
              </p:ext>
            </p:extLst>
          </p:nvPr>
        </p:nvGraphicFramePr>
        <p:xfrm>
          <a:off x="762000" y="1422400"/>
          <a:ext cx="10668000" cy="3733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3859689318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3853674944"/>
                    </a:ext>
                  </a:extLst>
                </a:gridCol>
                <a:gridCol w="5207000">
                  <a:extLst>
                    <a:ext uri="{9D8B030D-6E8A-4147-A177-3AD203B41FA5}">
                      <a16:colId xmlns:a16="http://schemas.microsoft.com/office/drawing/2014/main" val="205594094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pt-PT" sz="12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Item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Rota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Funcionalidade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745078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Home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/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Landing page + cache de modelos + preview do README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03475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Chat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/chat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Streaming, barra de contexto e benchmark automatico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21941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Benchmarks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/benchmark-evaluations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Grelha consolidada + export Excel + analise local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82365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Qualidade e Metricas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/benchmarks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Split-view por prompt, graficos e avaliacao por juiz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848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Dashboard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/dashboard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Ranking agregado por modelo (score de 12 metricas)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63895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Modelo Carregados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/modelos-ollama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Grelha de modelos locais com compatibilidade GPU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356548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Prompts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/edit-prompts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Editor runtime dos ficheiros Prompts/*.txt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615403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Logs do sistema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/system-logs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Visualizacao, filtro e apagamento dos logs Serilog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37727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Definicoes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/settings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Chaves dos juizes, modelo OpenRouter e reasoning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531152"/>
                  </a:ext>
                </a:extLst>
              </a:tr>
            </a:tbl>
          </a:graphicData>
        </a:graphic>
      </p:graphicFrame>
      <p:sp>
        <p:nvSpPr>
          <p:cNvPr id="8" name="CaixaDeTexto 7">
            <a:extLst>
              <a:ext uri="{FF2B5EF4-FFF2-40B4-BE49-F238E27FC236}">
                <a16:creationId xmlns:a16="http://schemas.microsoft.com/office/drawing/2014/main" id="{EFC6C9E7-EC6A-E09C-54F6-96229E2098DB}"/>
              </a:ext>
            </a:extLst>
          </p:cNvPr>
          <p:cNvSpPr txBox="1"/>
          <p:nvPr/>
        </p:nvSpPr>
        <p:spPr>
          <a:xfrm>
            <a:off x="762000" y="5638800"/>
            <a:ext cx="10668000" cy="5080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250">
                <a:solidFill>
                  <a:srgbClr val="8C9EB8"/>
                </a:solidFill>
                <a:latin typeface="Segoe UI" panose="020B0502040204020203" pitchFamily="34" charset="0"/>
              </a:rPr>
              <a:t>Responsividade: a partir de 768px o NavMenu vira drawer deslizante com overlay; Definicoes vive no menu de rodape.</a:t>
            </a:r>
          </a:p>
        </p:txBody>
      </p:sp>
    </p:spTree>
    <p:extLst>
      <p:ext uri="{BB962C8B-B14F-4D97-AF65-F5344CB8AC3E}">
        <p14:creationId xmlns:p14="http://schemas.microsoft.com/office/powerpoint/2010/main" val="18855563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glitter dir="r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227C588B-18EF-8E80-D373-71188254C741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Appbar e paginas de leitura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60203FC-2819-26ED-14A6-78D1C1AE5BF9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FF8B733-2EAE-D248-CFA9-36E70E9E3E37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EE57B45-BF9F-B6C8-FAB1-12D02D8367E7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01F6A24-9416-71C6-33A9-401AE65D2FD4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6 / 25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08611FB-6A72-CF04-7864-3E63497D1ED2}"/>
              </a:ext>
            </a:extLst>
          </p:cNvPr>
          <p:cNvSpPr/>
          <p:nvPr/>
        </p:nvSpPr>
        <p:spPr>
          <a:xfrm>
            <a:off x="762000" y="1422400"/>
            <a:ext cx="5207000" cy="3048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DB5837E-DD1A-463C-7A37-0B96A8779613}"/>
              </a:ext>
            </a:extLst>
          </p:cNvPr>
          <p:cNvSpPr txBox="1"/>
          <p:nvPr/>
        </p:nvSpPr>
        <p:spPr>
          <a:xfrm>
            <a:off x="990600" y="1574800"/>
            <a:ext cx="4749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Appbar - icone + legenda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7D8428B1-0B64-B81E-ACFF-C2A12013498F}"/>
              </a:ext>
            </a:extLst>
          </p:cNvPr>
          <p:cNvSpPr txBox="1"/>
          <p:nvPr/>
        </p:nvSpPr>
        <p:spPr>
          <a:xfrm>
            <a:off x="990600" y="2032000"/>
            <a:ext cx="4749800" cy="228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README, Testes e Comparar com legenda sempre visivel.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Comutador de tema (escuro/claro) e seletor de idioma PT/EN.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3 niveis de responsividade: &gt;=1100px titulo + legendas; 769-1100px so legendas; &lt;=768px so icones.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Acessibilidade: title e aria-label mantem o texto longo.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764B761F-CBB5-8971-0019-36FB3F6D913E}"/>
              </a:ext>
            </a:extLst>
          </p:cNvPr>
          <p:cNvSpPr/>
          <p:nvPr/>
        </p:nvSpPr>
        <p:spPr>
          <a:xfrm>
            <a:off x="6223000" y="1422400"/>
            <a:ext cx="5207000" cy="3048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54B660E-4C3D-BF41-19C6-2DD368016414}"/>
              </a:ext>
            </a:extLst>
          </p:cNvPr>
          <p:cNvSpPr txBox="1"/>
          <p:nvPr/>
        </p:nvSpPr>
        <p:spPr>
          <a:xfrm>
            <a:off x="6451600" y="1574800"/>
            <a:ext cx="4749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Paginas de leitura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7B3B292-AEFA-70DE-E4A3-812A71625C56}"/>
              </a:ext>
            </a:extLst>
          </p:cNvPr>
          <p:cNvSpPr txBox="1"/>
          <p:nvPr/>
        </p:nvSpPr>
        <p:spPr>
          <a:xfrm>
            <a:off x="6451600" y="2032000"/>
            <a:ext cx="4749800" cy="228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Plano de Testes (/plano-de-testes) - 15 casos para avaliar juizes.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Comparar Modelos (/comparar-modelos) - guia de comparacao justa.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Ambas PT/EN, apenas leitura (Markdown via Markdig).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Botoes no cabecalho, nao no menu lateral.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6209A813-97E4-07C8-80F0-C88884BD69EC}"/>
              </a:ext>
            </a:extLst>
          </p:cNvPr>
          <p:cNvSpPr/>
          <p:nvPr/>
        </p:nvSpPr>
        <p:spPr>
          <a:xfrm>
            <a:off x="762000" y="4724400"/>
            <a:ext cx="10668000" cy="10668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B14A66D-AE02-EBBD-4D52-E43FF162B5CD}"/>
              </a:ext>
            </a:extLst>
          </p:cNvPr>
          <p:cNvSpPr txBox="1"/>
          <p:nvPr/>
        </p:nvSpPr>
        <p:spPr>
          <a:xfrm>
            <a:off x="990600" y="4978400"/>
            <a:ext cx="10210800" cy="6096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As paginas de leitura resolvem o ficheiro pelo idioma da UI (cookie PT/EN) e interceptam as ancoras internas com scroll suave via wwwroot/js/markdown-anchors.js.</a:t>
            </a:r>
          </a:p>
        </p:txBody>
      </p:sp>
    </p:spTree>
    <p:extLst>
      <p:ext uri="{BB962C8B-B14F-4D97-AF65-F5344CB8AC3E}">
        <p14:creationId xmlns:p14="http://schemas.microsoft.com/office/powerpoint/2010/main" val="5435556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glitter dir="d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ABC2976-A75C-2336-6849-C13CB6D46F06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Home (/)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62AB66D-6CFD-96EE-8FBD-32662E017A4A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EA0D7B3-DDD9-2A84-34BC-AA1BC84CCA85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3B7DC57-2C89-F229-22DE-6BDEF7DA3E8A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7AC8E52-38F4-6DC8-2102-94B550D4D8CE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7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D0E7FBB-6150-B276-ECE2-FF2D34541F12}"/>
              </a:ext>
            </a:extLst>
          </p:cNvPr>
          <p:cNvSpPr txBox="1"/>
          <p:nvPr/>
        </p:nvSpPr>
        <p:spPr>
          <a:xfrm>
            <a:off x="762000" y="1524000"/>
            <a:ext cx="10668000" cy="444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Proposito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pagina de entrada: verifica se o Ollama esta ativo e pre-carrega a cache de modelos.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Health check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OllamaChecker; se a base Ollama:BaseUrl nao responder, mostra FluentMessageBar de erro.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Cache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limpa o localStorage uma vez por sessao e popula ollamaModels e ollamaModelsFullV2.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Metadados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GET /api/tags + POST /api/show (contexto nativo, ano de treino, capacidade de reasoning).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Botao Readme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descarrega o README do GitHub e renderiza; sem internet, dialogo de erro.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Outputs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cards de acesso rapido, preview do README e barra de erro quando o Ollama esta em baixo.</a:t>
            </a:r>
          </a:p>
        </p:txBody>
      </p:sp>
    </p:spTree>
    <p:extLst>
      <p:ext uri="{BB962C8B-B14F-4D97-AF65-F5344CB8AC3E}">
        <p14:creationId xmlns:p14="http://schemas.microsoft.com/office/powerpoint/2010/main" val="14432604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glitter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215433D-8E04-8D0E-D008-22A41B77E704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Chat (/chat) - fluxo principal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67C48C2-74B4-1CAA-FFF1-3F165FEB71A1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03DDAD9-0FDB-0977-64AA-DB2B583A75D3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49C1BD6-03B7-E92D-EECB-5DB5F809DD75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582E63B-2875-214E-4720-D0024A2819D6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8 / 25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56FC946-9AEE-7E01-FF3D-C4F8CBDE5EE3}"/>
              </a:ext>
            </a:extLst>
          </p:cNvPr>
          <p:cNvSpPr/>
          <p:nvPr/>
        </p:nvSpPr>
        <p:spPr>
          <a:xfrm>
            <a:off x="762000" y="1422400"/>
            <a:ext cx="10668000" cy="812800"/>
          </a:xfrm>
          <a:prstGeom prst="rect">
            <a:avLst/>
          </a:prstGeom>
          <a:solidFill>
            <a:srgbClr val="142F5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F3AAAA6-0CE6-9057-7029-CD67EB9DDEC7}"/>
              </a:ext>
            </a:extLst>
          </p:cNvPr>
          <p:cNvSpPr/>
          <p:nvPr/>
        </p:nvSpPr>
        <p:spPr>
          <a:xfrm>
            <a:off x="939800" y="1574800"/>
            <a:ext cx="508000" cy="508000"/>
          </a:xfrm>
          <a:prstGeom prst="ellipse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pt-PT" b="1">
                <a:solidFill>
                  <a:srgbClr val="FFFFFF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FD04B69-636C-11E1-726D-30ED4692DBD2}"/>
              </a:ext>
            </a:extLst>
          </p:cNvPr>
          <p:cNvSpPr txBox="1"/>
          <p:nvPr/>
        </p:nvSpPr>
        <p:spPr>
          <a:xfrm>
            <a:off x="1651000" y="1524000"/>
            <a:ext cx="9601200" cy="3048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Persistir a mensagem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C64DC2C-FC4E-6C71-A4E8-B5430F0E3709}"/>
              </a:ext>
            </a:extLst>
          </p:cNvPr>
          <p:cNvSpPr txBox="1"/>
          <p:nvPr/>
        </p:nvSpPr>
        <p:spPr>
          <a:xfrm>
            <a:off x="1651000" y="1828800"/>
            <a:ext cx="9601200" cy="3302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Cria a conversa (Conversas) e grava a mensagem (ConversaMensagens); titulo = primeiros 60 caracteres.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D89C8972-4CB2-8C18-DF2A-CD9AB05C5C5F}"/>
              </a:ext>
            </a:extLst>
          </p:cNvPr>
          <p:cNvSpPr/>
          <p:nvPr/>
        </p:nvSpPr>
        <p:spPr>
          <a:xfrm>
            <a:off x="762000" y="2336800"/>
            <a:ext cx="10668000" cy="812800"/>
          </a:xfrm>
          <a:prstGeom prst="rect">
            <a:avLst/>
          </a:prstGeom>
          <a:solidFill>
            <a:srgbClr val="142F5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FBE341D-9B2C-CD95-B86F-A9B230096D05}"/>
              </a:ext>
            </a:extLst>
          </p:cNvPr>
          <p:cNvSpPr/>
          <p:nvPr/>
        </p:nvSpPr>
        <p:spPr>
          <a:xfrm>
            <a:off x="939800" y="2489200"/>
            <a:ext cx="508000" cy="508000"/>
          </a:xfrm>
          <a:prstGeom prst="ellipse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pt-PT" b="1">
                <a:solidFill>
                  <a:srgbClr val="FFFFFF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1A8B4CF-FFDC-596E-DA39-4123FDE64C32}"/>
              </a:ext>
            </a:extLst>
          </p:cNvPr>
          <p:cNvSpPr txBox="1"/>
          <p:nvPr/>
        </p:nvSpPr>
        <p:spPr>
          <a:xfrm>
            <a:off x="1651000" y="2438400"/>
            <a:ext cx="9601200" cy="3048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Calcular o contexto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1D627AD-8DB2-3335-CBFE-584C29AF0B29}"/>
              </a:ext>
            </a:extLst>
          </p:cNvPr>
          <p:cNvSpPr txBox="1"/>
          <p:nvPr/>
        </p:nvSpPr>
        <p:spPr>
          <a:xfrm>
            <a:off x="1651000" y="2743200"/>
            <a:ext cx="9601200" cy="3302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Contexto num_ctx efetivo automatico (VRAM / KV cache) e estimativa de tokens do novo prompt.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BA8DA32-FE14-290B-DC81-4AB94DD81D08}"/>
              </a:ext>
            </a:extLst>
          </p:cNvPr>
          <p:cNvSpPr/>
          <p:nvPr/>
        </p:nvSpPr>
        <p:spPr>
          <a:xfrm>
            <a:off x="762000" y="3251200"/>
            <a:ext cx="10668000" cy="812800"/>
          </a:xfrm>
          <a:prstGeom prst="rect">
            <a:avLst/>
          </a:prstGeom>
          <a:solidFill>
            <a:srgbClr val="142F5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E73107E-0705-7124-2706-5B829460B8B9}"/>
              </a:ext>
            </a:extLst>
          </p:cNvPr>
          <p:cNvSpPr/>
          <p:nvPr/>
        </p:nvSpPr>
        <p:spPr>
          <a:xfrm>
            <a:off x="939800" y="3403600"/>
            <a:ext cx="508000" cy="508000"/>
          </a:xfrm>
          <a:prstGeom prst="ellipse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pt-PT" b="1">
                <a:solidFill>
                  <a:srgbClr val="FFFFFF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88CA5D4-90D8-2E12-44EE-479BC3165D63}"/>
              </a:ext>
            </a:extLst>
          </p:cNvPr>
          <p:cNvSpPr txBox="1"/>
          <p:nvPr/>
        </p:nvSpPr>
        <p:spPr>
          <a:xfrm>
            <a:off x="1651000" y="3352800"/>
            <a:ext cx="9601200" cy="3048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Montar o payload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388288A-4370-E971-5BDB-5029661799E1}"/>
              </a:ext>
            </a:extLst>
          </p:cNvPr>
          <p:cNvSpPr txBox="1"/>
          <p:nvPr/>
        </p:nvSpPr>
        <p:spPr>
          <a:xfrm>
            <a:off x="1651000" y="3657600"/>
            <a:ext cx="9601200" cy="3302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System prompt, historico aparado a 60%, temperatura, num_predict limitado pelo contexto e think.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B7495D2-0C87-2887-C8EE-1A08464B7369}"/>
              </a:ext>
            </a:extLst>
          </p:cNvPr>
          <p:cNvSpPr/>
          <p:nvPr/>
        </p:nvSpPr>
        <p:spPr>
          <a:xfrm>
            <a:off x="762000" y="4165600"/>
            <a:ext cx="10668000" cy="812800"/>
          </a:xfrm>
          <a:prstGeom prst="rect">
            <a:avLst/>
          </a:prstGeom>
          <a:solidFill>
            <a:srgbClr val="142F5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16F0AB9-142D-F296-65FF-191127AF766D}"/>
              </a:ext>
            </a:extLst>
          </p:cNvPr>
          <p:cNvSpPr/>
          <p:nvPr/>
        </p:nvSpPr>
        <p:spPr>
          <a:xfrm>
            <a:off x="939800" y="4318000"/>
            <a:ext cx="508000" cy="508000"/>
          </a:xfrm>
          <a:prstGeom prst="ellipse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pt-PT" b="1">
                <a:solidFill>
                  <a:srgbClr val="FFFFFF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8C0A26AE-13AE-287B-32F8-4BC19AC1E7DA}"/>
              </a:ext>
            </a:extLst>
          </p:cNvPr>
          <p:cNvSpPr txBox="1"/>
          <p:nvPr/>
        </p:nvSpPr>
        <p:spPr>
          <a:xfrm>
            <a:off x="1651000" y="4267200"/>
            <a:ext cx="9601200" cy="3048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Streaming NDJSON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301235A8-8B2B-FBA2-A2C9-F4E55769640F}"/>
              </a:ext>
            </a:extLst>
          </p:cNvPr>
          <p:cNvSpPr txBox="1"/>
          <p:nvPr/>
        </p:nvSpPr>
        <p:spPr>
          <a:xfrm>
            <a:off x="1651000" y="4572000"/>
            <a:ext cx="9601200" cy="3302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en-US" sz="1300">
                <a:solidFill>
                  <a:srgbClr val="C9D5EA"/>
                </a:solidFill>
                <a:latin typeface="Segoe UI" panose="020B0502040204020203" pitchFamily="34" charset="0"/>
              </a:rPr>
              <a:t>POST /api/chat - 1 linha por token; reasoning (reasoning_content/thinking) capturado a parte.</a:t>
            </a:r>
            <a:endParaRPr lang="pt-PT" sz="1300">
              <a:solidFill>
                <a:srgbClr val="C9D5EA"/>
              </a:solidFill>
              <a:latin typeface="Segoe UI" panose="020B0502040204020203" pitchFamily="34" charset="0"/>
            </a:endParaRP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3DC1036E-0361-C901-30B0-7F9E7E95E8F8}"/>
              </a:ext>
            </a:extLst>
          </p:cNvPr>
          <p:cNvSpPr/>
          <p:nvPr/>
        </p:nvSpPr>
        <p:spPr>
          <a:xfrm>
            <a:off x="762000" y="5080000"/>
            <a:ext cx="10668000" cy="812800"/>
          </a:xfrm>
          <a:prstGeom prst="rect">
            <a:avLst/>
          </a:prstGeom>
          <a:solidFill>
            <a:srgbClr val="142F5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7F7E44E-9B53-C9EE-CE7A-5F0CE78966D6}"/>
              </a:ext>
            </a:extLst>
          </p:cNvPr>
          <p:cNvSpPr/>
          <p:nvPr/>
        </p:nvSpPr>
        <p:spPr>
          <a:xfrm>
            <a:off x="939800" y="5232400"/>
            <a:ext cx="508000" cy="508000"/>
          </a:xfrm>
          <a:prstGeom prst="ellipse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pt-PT" b="1">
                <a:solidFill>
                  <a:srgbClr val="FFFFFF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0A7B588B-AB43-79A3-32DD-1A7790F223F8}"/>
              </a:ext>
            </a:extLst>
          </p:cNvPr>
          <p:cNvSpPr txBox="1"/>
          <p:nvPr/>
        </p:nvSpPr>
        <p:spPr>
          <a:xfrm>
            <a:off x="1651000" y="5181600"/>
            <a:ext cx="9601200" cy="3048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Concluir e gravar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2182716-C4B2-6291-FA0A-706C57D1446B}"/>
              </a:ext>
            </a:extLst>
          </p:cNvPr>
          <p:cNvSpPr txBox="1"/>
          <p:nvPr/>
        </p:nvSpPr>
        <p:spPr>
          <a:xfrm>
            <a:off x="1651000" y="5486400"/>
            <a:ext cx="9601200" cy="3302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Metricas finais, benchmark automatico na BD, SUMMARY como descricao e auto-save sem dialogos.</a:t>
            </a:r>
          </a:p>
        </p:txBody>
      </p:sp>
    </p:spTree>
    <p:extLst>
      <p:ext uri="{BB962C8B-B14F-4D97-AF65-F5344CB8AC3E}">
        <p14:creationId xmlns:p14="http://schemas.microsoft.com/office/powerpoint/2010/main" val="3564952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glitter dir="u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2B261CB-F42C-018E-8CA3-5CD9C9D602D3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Chat - interface e reasoning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CE29D6C-2857-9F88-0078-EE78A36AAAFD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F6F7F4E-7768-977F-CBF1-2584273E9D85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FFA6E51-A488-9036-DB8F-1F8AEE6F43EE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9C200E4-1E7B-C147-2B6F-B6023DE41564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9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D52EA5A-9E5F-9ECD-A85A-8B3F43EF97C1}"/>
              </a:ext>
            </a:extLst>
          </p:cNvPr>
          <p:cNvSpPr txBox="1"/>
          <p:nvPr/>
        </p:nvSpPr>
        <p:spPr>
          <a:xfrm>
            <a:off x="762000" y="1473200"/>
            <a:ext cx="10668000" cy="469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Modelo e GPU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seletor FluentSelect e badge "GPU OK" vs "CPU Fallback" (GpuInfoDialog).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Barra de contexto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"Contexto: X / Y tokens" e restantes; fica ambar a &gt;=90% de ocupacao.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Reasoning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bloco "Pensamento" colapsavel; o campo think e explicito (BD Chat:EnableReasoning, default false).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Sondagem local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qwen3 e smollm3 respeitam think:false (~11-15 s -&gt; ~0,05 s); deepseek-r1 ignora-o.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Novo Chat descarrega o modelo (keep_alive=0); Historico abre o HistoryPanel (benchmarks + conversas).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Cancelar durante o streaming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a mensagem termina com *(Cancelado)*.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Saida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markdown formatado, tempo em tempo real, badge de temperatura e auto-save imediato.</a:t>
            </a:r>
          </a:p>
        </p:txBody>
      </p:sp>
    </p:spTree>
    <p:extLst>
      <p:ext uri="{BB962C8B-B14F-4D97-AF65-F5344CB8AC3E}">
        <p14:creationId xmlns:p14="http://schemas.microsoft.com/office/powerpoint/2010/main" val="32349547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shred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9B736E3-A91F-A918-2B01-96F9C4EDF966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Benchmarks - Avaliacoes (/benchmark-evaluations)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66D257F-85AE-85C0-2758-A8190501DF67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CFCE02F-8562-4C51-83B2-AE7E701286C9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9B3A4A6-27C5-FC5D-C5E5-935DBDFE4F39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C6B731B-81BF-A9D9-5B3F-CC3715B3A2FD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10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08D1055-7C43-C989-89ED-9EC880CC24C9}"/>
              </a:ext>
            </a:extLst>
          </p:cNvPr>
          <p:cNvSpPr txBox="1"/>
          <p:nvPr/>
        </p:nvSpPr>
        <p:spPr>
          <a:xfrm>
            <a:off x="762000" y="1524000"/>
            <a:ext cx="10668000" cy="444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Proposito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visao consolidada de todas as respostas com as avaliacoes dos juizes e metricas de desempenho.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Filtros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Todos / Por Avaliar / Avaliados, com pesquisa livre; grelha paginada (10 por pagina).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Detalhe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duplo clique ou botao "olho" - dialogo com tabs Metricas e Feedbacks dos Juizes.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Excel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ClosedXML; o workbook e gravado em %TEMP% e descarregado por HTTP (nao em base64 pelo SignalR).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Analise IA Local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- 100% local em C#, cancelavel, com sumario executivo e cards Mais Rapido / Melhor Avaliado.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Apagar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- 4 ambitos (filtrados / por avaliar / avaliados / todos) com confirmacao, ou linha individual.</a:t>
            </a:r>
          </a:p>
        </p:txBody>
      </p:sp>
    </p:spTree>
    <p:extLst>
      <p:ext uri="{BB962C8B-B14F-4D97-AF65-F5344CB8AC3E}">
        <p14:creationId xmlns:p14="http://schemas.microsoft.com/office/powerpoint/2010/main" val="2515339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shred pattern="rectangle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D472D2E-97CC-1940-8010-9575E3CE9294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Qualidade e Metricas (/benchmarks)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B6A5CAF-1227-4634-44D0-4673C1930487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77CFE08-B3A1-3928-845E-BBA6CE5F310E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BF7545C-B235-431F-BE40-70B8BB1A644D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B08F671-338A-2E3A-FD38-49232A542480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11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FF9D2F0-ADBD-05DB-09A0-6E51A78EB7A2}"/>
              </a:ext>
            </a:extLst>
          </p:cNvPr>
          <p:cNvSpPr txBox="1"/>
          <p:nvPr/>
        </p:nvSpPr>
        <p:spPr>
          <a:xfrm>
            <a:off x="762000" y="1524000"/>
            <a:ext cx="10668000" cy="444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Split-view por prompt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cards de prompt a esquerda, respostas por modelo a direita.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Cada resposta mostra Tokens/s, Eval, Load e Tokens; o texto do modelo fica colapsado por defeito.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Graficos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tab Desempenho (4 barras) e tab Qualidade (2 radares por juiz, 12 metricas 0-5), com download.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Avaliacao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formulario de 12 metricas (1-5) + nota Global, com traducao de feedback (OpenRouter -&gt; Gemini -&gt; Ollama).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Avaliar automaticamente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prompt do juiz gerado, submetido a Gemini e OpenRouter, notas parseadas.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FluentSplitter responsivo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em &lt;=768px os painéis passam a vertical (JS interop de largura do viewport).</a:t>
            </a:r>
          </a:p>
        </p:txBody>
      </p:sp>
    </p:spTree>
    <p:extLst>
      <p:ext uri="{BB962C8B-B14F-4D97-AF65-F5344CB8AC3E}">
        <p14:creationId xmlns:p14="http://schemas.microsoft.com/office/powerpoint/2010/main" val="36954836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ippl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63E1B42-7278-D204-2913-B20C74E167BB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Avaliacao automatica pelos juizes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EB8BB33-903E-D5F7-80A1-DE81F47D4F2D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53F7E58-C209-CE6B-4C6D-5B2781C6948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E62623E-8E0B-2F6B-915F-CE62ED628A80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E33E7B7-DE0F-5C17-1481-892F447BB4D9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12 / 25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30244FA2-62CC-3513-9552-0BCCC6CD6618}"/>
              </a:ext>
            </a:extLst>
          </p:cNvPr>
          <p:cNvSpPr/>
          <p:nvPr/>
        </p:nvSpPr>
        <p:spPr>
          <a:xfrm>
            <a:off x="762000" y="1422400"/>
            <a:ext cx="5207000" cy="4064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001092A-EA19-EBF3-C4C5-67B3740DFF81}"/>
              </a:ext>
            </a:extLst>
          </p:cNvPr>
          <p:cNvSpPr txBox="1"/>
          <p:nvPr/>
        </p:nvSpPr>
        <p:spPr>
          <a:xfrm>
            <a:off x="990600" y="1574800"/>
            <a:ext cx="4749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A avaliacao em 4 passos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9CAC4EB-C039-DC11-AD5F-C77604C812F8}"/>
              </a:ext>
            </a:extLst>
          </p:cNvPr>
          <p:cNvSpPr txBox="1"/>
          <p:nvPr/>
        </p:nvSpPr>
        <p:spPr>
          <a:xfrm>
            <a:off x="990600" y="2057400"/>
            <a:ext cx="4749800" cy="254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400"/>
              </a:spcAft>
            </a:pPr>
            <a:r>
              <a:rPr lang="pt-PT" sz="1400">
                <a:solidFill>
                  <a:srgbClr val="C9D5EA"/>
                </a:solidFill>
                <a:latin typeface="Segoe UI" panose="020B0502040204020203" pitchFamily="34" charset="0"/>
              </a:rPr>
              <a:t>•  1. Preparar prompt - /api/show + EvaluatePromptTemplate.</a:t>
            </a:r>
          </a:p>
          <a:p>
            <a:pPr>
              <a:spcAft>
                <a:spcPts val="1400"/>
              </a:spcAft>
            </a:pPr>
            <a:r>
              <a:rPr lang="pt-PT" sz="1400">
                <a:solidFill>
                  <a:srgbClr val="C9D5EA"/>
                </a:solidFill>
                <a:latin typeface="Segoe UI" panose="020B0502040204020203" pitchFamily="34" charset="0"/>
              </a:rPr>
              <a:t>•  2. Juiz Gemini - gemini-flash-latest.</a:t>
            </a:r>
          </a:p>
          <a:p>
            <a:pPr>
              <a:spcAft>
                <a:spcPts val="1400"/>
              </a:spcAft>
            </a:pPr>
            <a:r>
              <a:rPr lang="pt-PT" sz="1400">
                <a:solidFill>
                  <a:srgbClr val="C9D5EA"/>
                </a:solidFill>
                <a:latin typeface="Segoe UI" panose="020B0502040204020203" pitchFamily="34" charset="0"/>
              </a:rPr>
              <a:t>•  3. Juiz OpenRouter - openrouter/free (em paralelo).</a:t>
            </a:r>
          </a:p>
          <a:p>
            <a:pPr>
              <a:spcAft>
                <a:spcPts val="1400"/>
              </a:spcAft>
            </a:pPr>
            <a:r>
              <a:rPr lang="pt-PT" sz="1400">
                <a:solidFill>
                  <a:srgbClr val="C9D5EA"/>
                </a:solidFill>
                <a:latin typeface="Segoe UI" panose="020B0502040204020203" pitchFamily="34" charset="0"/>
              </a:rPr>
              <a:t>•  4. Validar notas - EvaluationParser.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F22D494-A51F-23A1-EA11-3C27A8A0EAC6}"/>
              </a:ext>
            </a:extLst>
          </p:cNvPr>
          <p:cNvSpPr txBox="1"/>
          <p:nvPr/>
        </p:nvSpPr>
        <p:spPr>
          <a:xfrm>
            <a:off x="990600" y="4826000"/>
            <a:ext cx="4749800" cy="5080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250">
                <a:solidFill>
                  <a:srgbClr val="8C9EB8"/>
                </a:solidFill>
                <a:latin typeface="Segoe UI" panose="020B0502040204020203" pitchFamily="34" charset="0"/>
              </a:rPr>
              <a:t>Um juiz pode falhar sem bloquear o outro.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D22B8EE6-FC9F-1F8A-C24A-ED4C8148E1D1}"/>
              </a:ext>
            </a:extLst>
          </p:cNvPr>
          <p:cNvSpPr/>
          <p:nvPr/>
        </p:nvSpPr>
        <p:spPr>
          <a:xfrm>
            <a:off x="6223000" y="1422400"/>
            <a:ext cx="5207000" cy="4064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6A716C7-B1B2-37A6-FE49-05CEFCA122DE}"/>
              </a:ext>
            </a:extLst>
          </p:cNvPr>
          <p:cNvSpPr txBox="1"/>
          <p:nvPr/>
        </p:nvSpPr>
        <p:spPr>
          <a:xfrm>
            <a:off x="6451600" y="1574800"/>
            <a:ext cx="4749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Regras e estados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3870E70-647E-FE60-1479-C31DA7EFD21C}"/>
              </a:ext>
            </a:extLst>
          </p:cNvPr>
          <p:cNvSpPr txBox="1"/>
          <p:nvPr/>
        </p:nvSpPr>
        <p:spPr>
          <a:xfrm>
            <a:off x="6451600" y="2057400"/>
            <a:ext cx="4749800" cy="317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Quota - intervalo minimo de 60 s, marcado so apos sucesso.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Chaves - da pagina Settings (BD), com fallback em user-secrets.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Internet - verificada antes de gastar quota.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Falha total - dialogo de erro; a avaliacao nao abre.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Falha parcial - o juiz em falta fica editavel.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Progresso - barra com cronometro, 4 passos e Cancelar.</a:t>
            </a: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84A91BC3-D1A6-2E26-DB07-DFF19A0FCE3A}"/>
              </a:ext>
            </a:extLst>
          </p:cNvPr>
          <p:cNvSpPr/>
          <p:nvPr/>
        </p:nvSpPr>
        <p:spPr>
          <a:xfrm>
            <a:off x="762000" y="5638800"/>
            <a:ext cx="10668000" cy="5588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60F33AA-7ACA-CE39-B373-9E2F604F9D55}"/>
              </a:ext>
            </a:extLst>
          </p:cNvPr>
          <p:cNvSpPr txBox="1"/>
          <p:nvPr/>
        </p:nvSpPr>
        <p:spPr>
          <a:xfrm>
            <a:off x="990600" y="5765800"/>
            <a:ext cx="10210800" cy="3302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O botao "Copiar prompt" mantem o fallback manual - nao precisa de internet.</a:t>
            </a:r>
          </a:p>
        </p:txBody>
      </p:sp>
    </p:spTree>
    <p:extLst>
      <p:ext uri="{BB962C8B-B14F-4D97-AF65-F5344CB8AC3E}">
        <p14:creationId xmlns:p14="http://schemas.microsoft.com/office/powerpoint/2010/main" val="2320819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ythrough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C27CE31-95FE-DE56-F2A1-619A3A13834F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Dashboard (/dashboard)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C60DCBD-11A9-EDB0-8021-88213A563129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CB9EF8C-66A4-7FA4-23B7-ED6A0F3DCB7B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6CAA5A9-36F7-21A8-94BF-96CDE2828EB4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5CAB7EE-C866-8564-1908-78A65B530E1F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13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B37114C-01F4-A2EB-541A-743711D827C1}"/>
              </a:ext>
            </a:extLst>
          </p:cNvPr>
          <p:cNvSpPr txBox="1"/>
          <p:nvPr/>
        </p:nvSpPr>
        <p:spPr>
          <a:xfrm>
            <a:off x="762000" y="1524000"/>
            <a:ext cx="10668000" cy="444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6 KPI cards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Melhor Modelo, Modelos avaliados, Cobertura, Prompts testados, Mais rapido e Maior divergencia.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2 radares de qualidade (um por juiz) com as 12 metricas em escala 0-5.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Scatter plot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tokens/s no eixo X vs. score no eixo Y, cor por modelo.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Evolucao do score ao longo do tempo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media acumulada por modelo (Chart.js).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Tabela classificativa ordenavel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Score, Gemini, OpenRouter, Tokens/s, Tempo, Divergencia.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Score ponderado pelo ScoreCalculator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pesos configuraveis e HaloEffect com peso 0.</a:t>
            </a:r>
          </a:p>
        </p:txBody>
      </p:sp>
    </p:spTree>
    <p:extLst>
      <p:ext uri="{BB962C8B-B14F-4D97-AF65-F5344CB8AC3E}">
        <p14:creationId xmlns:p14="http://schemas.microsoft.com/office/powerpoint/2010/main" val="20686250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honeycomb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6ADB1D7-5C6B-3D97-0748-25CA25814A07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Modelos Carregados (/modelos-ollama)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C662F11-A4C7-E26D-459E-42333D5448A0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21582CC-4FE9-C759-02AE-64125D8E1C3E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0621CFF-F97F-DAFF-17EF-B8D57654DA34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963532F-052D-3CC5-EB7D-F340B9F597E3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14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31590CA-29AE-8277-AB34-17D646B909AB}"/>
              </a:ext>
            </a:extLst>
          </p:cNvPr>
          <p:cNvSpPr txBox="1"/>
          <p:nvPr/>
        </p:nvSpPr>
        <p:spPr>
          <a:xfrm>
            <a:off x="762000" y="1574800"/>
            <a:ext cx="10668000" cy="419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800"/>
              </a:spcAft>
            </a:pPr>
            <a:r>
              <a:rPr lang="pt-PT" sz="16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50" b="1">
                <a:solidFill>
                  <a:srgbClr val="38BDF8"/>
                </a:solidFill>
                <a:latin typeface="Segoe UI" panose="020B0502040204020203" pitchFamily="34" charset="0"/>
              </a:rPr>
              <a:t>Grelha</a:t>
            </a:r>
            <a:r>
              <a:rPr lang="pt-PT" sz="1650">
                <a:solidFill>
                  <a:srgbClr val="C9D5EA"/>
                </a:solidFill>
                <a:latin typeface="Segoe UI" panose="020B0502040204020203" pitchFamily="34" charset="0"/>
              </a:rPr>
              <a:t> - Nome, Familia, Parametros, Quantizacao, Ano de Treino, Contexto Maximo e Tamanho no Disco.</a:t>
            </a:r>
          </a:p>
          <a:p>
            <a:pPr>
              <a:spcAft>
                <a:spcPts val="1800"/>
              </a:spcAft>
            </a:pPr>
            <a:r>
              <a:rPr lang="pt-PT" sz="16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50" b="1">
                <a:solidFill>
                  <a:srgbClr val="38BDF8"/>
                </a:solidFill>
                <a:latin typeface="Segoe UI" panose="020B0502040204020203" pitchFamily="34" charset="0"/>
              </a:rPr>
              <a:t>Badge Raciocino</a:t>
            </a:r>
            <a:r>
              <a:rPr lang="pt-PT" sz="1650">
                <a:solidFill>
                  <a:srgbClr val="C9D5EA"/>
                </a:solidFill>
                <a:latin typeface="Segoe UI" panose="020B0502040204020203" pitchFamily="34" charset="0"/>
              </a:rPr>
              <a:t> - Suporta / Nao suporta / Desconhecido (array capabilities do /api/show).</a:t>
            </a:r>
          </a:p>
          <a:p>
            <a:pPr>
              <a:spcAft>
                <a:spcPts val="1800"/>
              </a:spcAft>
            </a:pPr>
            <a:r>
              <a:rPr lang="pt-PT" sz="16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50" b="1">
                <a:solidFill>
                  <a:srgbClr val="38BDF8"/>
                </a:solidFill>
                <a:latin typeface="Segoe UI" panose="020B0502040204020203" pitchFamily="34" charset="0"/>
              </a:rPr>
              <a:t>Badge GPU</a:t>
            </a:r>
            <a:r>
              <a:rPr lang="pt-PT" sz="1650">
                <a:solidFill>
                  <a:srgbClr val="C9D5EA"/>
                </a:solidFill>
                <a:latin typeface="Segoe UI" panose="020B0502040204020203" pitchFamily="34" charset="0"/>
              </a:rPr>
              <a:t> - Compativel / Excede VRAM / Leitura indisponivel (fotografia da VRAM livre).</a:t>
            </a:r>
          </a:p>
          <a:p>
            <a:pPr>
              <a:spcAft>
                <a:spcPts val="1800"/>
              </a:spcAft>
            </a:pPr>
            <a:r>
              <a:rPr lang="pt-PT" sz="1650">
                <a:solidFill>
                  <a:srgbClr val="C9D5EA"/>
                </a:solidFill>
                <a:latin typeface="Segoe UI" panose="020B0502040204020203" pitchFamily="34" charset="0"/>
              </a:rPr>
              <a:t>•  Cache-first em localStorage (ollamaModelsFullV2), combinando /api/tags com /api/show.</a:t>
            </a:r>
          </a:p>
          <a:p>
            <a:pPr>
              <a:spcAft>
                <a:spcPts val="1800"/>
              </a:spcAft>
            </a:pPr>
            <a:r>
              <a:rPr lang="pt-PT" sz="1650">
                <a:solidFill>
                  <a:srgbClr val="C9D5EA"/>
                </a:solidFill>
                <a:latin typeface="Segoe UI" panose="020B0502040204020203" pitchFamily="34" charset="0"/>
              </a:rPr>
              <a:t>•  Toolbar sticky com a contagem de modelos e o botao "O que significa cada coluna?" (9 explicacoes).</a:t>
            </a:r>
          </a:p>
        </p:txBody>
      </p:sp>
    </p:spTree>
    <p:extLst>
      <p:ext uri="{BB962C8B-B14F-4D97-AF65-F5344CB8AC3E}">
        <p14:creationId xmlns:p14="http://schemas.microsoft.com/office/powerpoint/2010/main" val="181230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erris dir="l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B335623-94E1-E496-50AD-E08B9A31C6E8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Editar Prompts, Logs e Definicoes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D917641-0D93-5427-44B1-71E1044D5AA6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15C8A53-F683-FDA7-0210-702CA5043B57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417C32E-6A73-66DA-F960-5098F3315F88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9310141-A0AB-ED32-715F-F62A5B976E10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15 / 25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5A17F114-386D-5E69-9468-C63DCDDD891B}"/>
              </a:ext>
            </a:extLst>
          </p:cNvPr>
          <p:cNvSpPr/>
          <p:nvPr/>
        </p:nvSpPr>
        <p:spPr>
          <a:xfrm>
            <a:off x="762000" y="1422400"/>
            <a:ext cx="3302000" cy="3937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06ACAC2-DB71-B370-0673-5B8141F337E1}"/>
              </a:ext>
            </a:extLst>
          </p:cNvPr>
          <p:cNvSpPr txBox="1"/>
          <p:nvPr/>
        </p:nvSpPr>
        <p:spPr>
          <a:xfrm>
            <a:off x="965200" y="1600200"/>
            <a:ext cx="28956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Editar Prompts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770F378-BF37-1BBF-2F3C-41751A7EBB6C}"/>
              </a:ext>
            </a:extLst>
          </p:cNvPr>
          <p:cNvSpPr txBox="1"/>
          <p:nvPr/>
        </p:nvSpPr>
        <p:spPr>
          <a:xfrm>
            <a:off x="965200" y="1981200"/>
            <a:ext cx="2895600" cy="2794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150">
                <a:solidFill>
                  <a:srgbClr val="8C9EB8"/>
                </a:solidFill>
                <a:latin typeface="Segoe UI" panose="020B0502040204020203" pitchFamily="34" charset="0"/>
              </a:rPr>
              <a:t>/edit-prompts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61C3BDB-4F38-8A1D-DD0A-8C9B23D605A8}"/>
              </a:ext>
            </a:extLst>
          </p:cNvPr>
          <p:cNvSpPr txBox="1"/>
          <p:nvPr/>
        </p:nvSpPr>
        <p:spPr>
          <a:xfrm>
            <a:off x="965200" y="2362200"/>
            <a:ext cx="2895600" cy="279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Selecionar ficheiro Prompts/*.txt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Gravar, Cancelar e Sair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Aviso de alteracoes nao gravadas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Ativo sem recompilar a app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8C686BCF-F7C3-70D8-CF82-D611C7351074}"/>
              </a:ext>
            </a:extLst>
          </p:cNvPr>
          <p:cNvSpPr/>
          <p:nvPr/>
        </p:nvSpPr>
        <p:spPr>
          <a:xfrm>
            <a:off x="4445000" y="1422400"/>
            <a:ext cx="3302000" cy="3937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2FE4800-EA46-B983-2949-EEFF6F1BDAF5}"/>
              </a:ext>
            </a:extLst>
          </p:cNvPr>
          <p:cNvSpPr txBox="1"/>
          <p:nvPr/>
        </p:nvSpPr>
        <p:spPr>
          <a:xfrm>
            <a:off x="4648200" y="1600200"/>
            <a:ext cx="28956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Logs do Sistema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A3FF7DF-5AAE-9FD9-35D8-1E3840646407}"/>
              </a:ext>
            </a:extLst>
          </p:cNvPr>
          <p:cNvSpPr txBox="1"/>
          <p:nvPr/>
        </p:nvSpPr>
        <p:spPr>
          <a:xfrm>
            <a:off x="4648200" y="1981200"/>
            <a:ext cx="2895600" cy="2794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150">
                <a:solidFill>
                  <a:srgbClr val="8C9EB8"/>
                </a:solidFill>
                <a:latin typeface="Segoe UI" panose="020B0502040204020203" pitchFamily="34" charset="0"/>
              </a:rPr>
              <a:t>/system-logs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9A7D79-3262-145F-5A01-781866BB244B}"/>
              </a:ext>
            </a:extLst>
          </p:cNvPr>
          <p:cNvSpPr txBox="1"/>
          <p:nvPr/>
        </p:nvSpPr>
        <p:spPr>
          <a:xfrm>
            <a:off x="4648200" y="2362200"/>
            <a:ext cx="2895600" cy="279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Logs Serilog na tabela SQLite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Filtros por nivel + pesquisa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Detalhe com mensagem e excecao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Limpar e apagar com confirmacao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0D96ECC-B9ED-39FB-0312-213B99E62028}"/>
              </a:ext>
            </a:extLst>
          </p:cNvPr>
          <p:cNvSpPr/>
          <p:nvPr/>
        </p:nvSpPr>
        <p:spPr>
          <a:xfrm>
            <a:off x="8128000" y="1422400"/>
            <a:ext cx="3302000" cy="3937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789E1405-D4EC-3746-14D6-828804C7CE17}"/>
              </a:ext>
            </a:extLst>
          </p:cNvPr>
          <p:cNvSpPr txBox="1"/>
          <p:nvPr/>
        </p:nvSpPr>
        <p:spPr>
          <a:xfrm>
            <a:off x="8331200" y="1600200"/>
            <a:ext cx="28956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Definicoes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F4744FE-A4AC-2901-497F-C1122CDE026D}"/>
              </a:ext>
            </a:extLst>
          </p:cNvPr>
          <p:cNvSpPr txBox="1"/>
          <p:nvPr/>
        </p:nvSpPr>
        <p:spPr>
          <a:xfrm>
            <a:off x="8331200" y="1981200"/>
            <a:ext cx="2895600" cy="2794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150">
                <a:solidFill>
                  <a:srgbClr val="8C9EB8"/>
                </a:solidFill>
                <a:latin typeface="Segoe UI" panose="020B0502040204020203" pitchFamily="34" charset="0"/>
              </a:rPr>
              <a:t>/settings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CBC9CEC0-7DB7-0328-DA58-A88F4E99026C}"/>
              </a:ext>
            </a:extLst>
          </p:cNvPr>
          <p:cNvSpPr txBox="1"/>
          <p:nvPr/>
        </p:nvSpPr>
        <p:spPr>
          <a:xfrm>
            <a:off x="8331200" y="2362200"/>
            <a:ext cx="2895600" cy="279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Chaves Gemini/OpenRouter (BD)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Modelo OpenRouter por catalogo ao vivo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Toggle de reasoning (think)</a:t>
            </a:r>
          </a:p>
          <a:p>
            <a:pPr>
              <a:spcAft>
                <a:spcPts val="1000"/>
              </a:spcAft>
            </a:pPr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•  Dirty-tracking + dialogo de confirmacao</a:t>
            </a:r>
          </a:p>
        </p:txBody>
      </p:sp>
    </p:spTree>
    <p:extLst>
      <p:ext uri="{BB962C8B-B14F-4D97-AF65-F5344CB8AC3E}">
        <p14:creationId xmlns:p14="http://schemas.microsoft.com/office/powerpoint/2010/main" val="8721917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erris dir="r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0EA6685-F37C-7735-8A51-33AFD1406F2E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Componentes partilhados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B5286CC-3E25-CF1C-8EEB-4F0636C9527A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998A50B-971C-A097-D7D9-027D992840D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326262A-D7D3-CDD1-9B5D-E8014619E73F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F4E331C-FEAD-2860-9CA2-FDCD9B3CBF54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16 / 25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47E6A5B6-77DE-BC36-61EA-FBB2F0E256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9935758"/>
              </p:ext>
            </p:extLst>
          </p:nvPr>
        </p:nvGraphicFramePr>
        <p:xfrm>
          <a:off x="762000" y="1422400"/>
          <a:ext cx="10668000" cy="4419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614936706"/>
                    </a:ext>
                  </a:extLst>
                </a:gridCol>
                <a:gridCol w="7112000">
                  <a:extLst>
                    <a:ext uri="{9D8B030D-6E8A-4147-A177-3AD203B41FA5}">
                      <a16:colId xmlns:a16="http://schemas.microsoft.com/office/drawing/2014/main" val="283715089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pt-PT" sz="12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Componente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Uso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8062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PageHeader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Cabecalho partilhado com gradiente #38BDF8 -&gt; #A78BFA e barra de acento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66315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HistoryPanel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Painel lateral com tabs Benchmarks e Conversas (export/import JSON)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639323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CultureSelector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Comutacao PT/EN por cookie de cultura</a:t>
                      </a:r>
                      <a:endParaRPr lang="pt-PT" sz="1150" b="0">
                        <a:solidFill>
                          <a:srgbClr val="C9D5EA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255061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BenchmarkEvaluation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Formulario de 12 metricas + Global, escala 1-5, com celulas fracas a vermelho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198499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BenchmarkEvaluationDialog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Formulario + traducao de feedback (OpenRouter -&gt; Gemini -&gt; Ollama)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68667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BenchmarkEvaluationDetail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Dialogo 900px - tabs Metricas e Feedbacks dos Juizes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87827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BenchmarkChartDialog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4 barras de desempenho + 2 radares de qualidade, com download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3001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BenchmarkAnalysisViewer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Painel da analise local (vazio / streaming / concluido)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13656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GpuInfoDialog / ModelColumnsInfo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Dialogos explicativos de GPU e das colunas da grelha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17964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88709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30E7D58-E9E5-6200-0448-5BD1E53B5E7F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Dialogos principais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BFED4BC-3AC7-85CB-7A0B-37F3ADA4EC3D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387C730-19FB-DF2B-88FD-263CD19B9FF0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2399DEA-6754-6077-66D8-F9C2B68362D0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32FE9F1-CB80-B9D1-C2AF-44907411A99D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17 / 25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6FE00ED4-0304-F870-A242-C04704440D35}"/>
              </a:ext>
            </a:extLst>
          </p:cNvPr>
          <p:cNvSpPr/>
          <p:nvPr/>
        </p:nvSpPr>
        <p:spPr>
          <a:xfrm>
            <a:off x="762000" y="1422400"/>
            <a:ext cx="5207000" cy="3937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7A2E611-9EC1-221D-BBEC-76CE97FCA8EC}"/>
              </a:ext>
            </a:extLst>
          </p:cNvPr>
          <p:cNvSpPr txBox="1"/>
          <p:nvPr/>
        </p:nvSpPr>
        <p:spPr>
          <a:xfrm>
            <a:off x="990600" y="1574800"/>
            <a:ext cx="4749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Avaliacao e traducao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8FA8B8D-C155-C265-C820-EBADAB17FA80}"/>
              </a:ext>
            </a:extLst>
          </p:cNvPr>
          <p:cNvSpPr txBox="1"/>
          <p:nvPr/>
        </p:nvSpPr>
        <p:spPr>
          <a:xfrm>
            <a:off x="990600" y="2057400"/>
            <a:ext cx="4749800" cy="304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Detail - grelha Gemini vs OpenRouter e feedbacks lado a lado.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Caixa "Recomendacao do Juiz" quando ha campo RECOMMENDATION.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Metricas fracas destacadas a vermelho (&lt;=3; &lt;=2 em Seguranca).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Traducao com cronometro, sistema em uso e cancelamento.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5C652AD-27EA-BB08-A325-0C7C61B390C6}"/>
              </a:ext>
            </a:extLst>
          </p:cNvPr>
          <p:cNvSpPr/>
          <p:nvPr/>
        </p:nvSpPr>
        <p:spPr>
          <a:xfrm>
            <a:off x="6223000" y="1422400"/>
            <a:ext cx="5207000" cy="3937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437A5E7-C237-FE56-B564-293A020DCD09}"/>
              </a:ext>
            </a:extLst>
          </p:cNvPr>
          <p:cNvSpPr txBox="1"/>
          <p:nvPr/>
        </p:nvSpPr>
        <p:spPr>
          <a:xfrm>
            <a:off x="6451600" y="1574800"/>
            <a:ext cx="4749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Graficos e analise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27BFD5D-0770-1EF7-487C-DD5B307C3C64}"/>
              </a:ext>
            </a:extLst>
          </p:cNvPr>
          <p:cNvSpPr txBox="1"/>
          <p:nvPr/>
        </p:nvSpPr>
        <p:spPr>
          <a:xfrm>
            <a:off x="6451600" y="2057400"/>
            <a:ext cx="4749800" cy="304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ChartDialog - tabs Desempenho e Qualidade, download de imagem.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Analise IA Local - estados vazio, streaming e concluido; cancelavel.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Confirmacoes antes de analisar (multiplos prompts, por avaliar).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LogDetailDialog, ReadmePreview, GpuInfo e ModelColumnsInfo.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B32AED1-CB61-DA8C-2A7B-8B9E9396396A}"/>
              </a:ext>
            </a:extLst>
          </p:cNvPr>
          <p:cNvSpPr/>
          <p:nvPr/>
        </p:nvSpPr>
        <p:spPr>
          <a:xfrm>
            <a:off x="762000" y="5511800"/>
            <a:ext cx="10668000" cy="6858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95E0116-F42F-BF15-ECC3-99194EAD785C}"/>
              </a:ext>
            </a:extLst>
          </p:cNvPr>
          <p:cNvSpPr txBox="1"/>
          <p:nvPr/>
        </p:nvSpPr>
        <p:spPr>
          <a:xfrm>
            <a:off x="990600" y="5689600"/>
            <a:ext cx="10210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Todas as confirmacoes de eliminacao passam pelo IDialogService (Sim, Apagar / Cancelar).</a:t>
            </a:r>
          </a:p>
        </p:txBody>
      </p:sp>
    </p:spTree>
    <p:extLst>
      <p:ext uri="{BB962C8B-B14F-4D97-AF65-F5344CB8AC3E}">
        <p14:creationId xmlns:p14="http://schemas.microsoft.com/office/powerpoint/2010/main" val="13142737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 dir="r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15AAB70-360F-8925-4D75-CCA1B021328F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Origem real da avaliacao por juiz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D7543DA-7CD9-19CA-617D-88EA0071F8D7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104352D-11DA-9F88-8D9E-4932BBDAAED2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5D83402-E287-2757-0B89-1A30D4BF700E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3D774B6-F5D5-7000-59FB-CF4A06C2B1E4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18 / 25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2B4A9F0B-0A89-9E3D-8817-9A18439B9D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898459"/>
              </p:ext>
            </p:extLst>
          </p:nvPr>
        </p:nvGraphicFramePr>
        <p:xfrm>
          <a:off x="762000" y="1473200"/>
          <a:ext cx="10668000" cy="2463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533316217"/>
                    </a:ext>
                  </a:extLst>
                </a:gridCol>
                <a:gridCol w="8636000">
                  <a:extLst>
                    <a:ext uri="{9D8B030D-6E8A-4147-A177-3AD203B41FA5}">
                      <a16:colId xmlns:a16="http://schemas.microsoft.com/office/drawing/2014/main" val="833815788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pt-PT" sz="13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Valor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3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Significado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10217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gemini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Slot preenchido automaticamente pelo servico do Gemini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979808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openrouter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Slot preenchido automaticamente pelo servico do OpenRouter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49288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externo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Conteudo colado ou preenchido manualmente pelo utilizador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8941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(null)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Sem resposta - ou registo legado com conteudo mas sem origem registada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309504"/>
                  </a:ext>
                </a:extLst>
              </a:tr>
            </a:tbl>
          </a:graphicData>
        </a:graphic>
      </p:graphicFrame>
      <p:sp>
        <p:nvSpPr>
          <p:cNvPr id="8" name="CaixaDeTexto 7">
            <a:extLst>
              <a:ext uri="{FF2B5EF4-FFF2-40B4-BE49-F238E27FC236}">
                <a16:creationId xmlns:a16="http://schemas.microsoft.com/office/drawing/2014/main" id="{C8709B64-73C9-0EDD-92B7-AE99E7CE2057}"/>
              </a:ext>
            </a:extLst>
          </p:cNvPr>
          <p:cNvSpPr txBox="1"/>
          <p:nvPr/>
        </p:nvSpPr>
        <p:spPr>
          <a:xfrm>
            <a:off x="762000" y="4267200"/>
            <a:ext cx="10668000" cy="190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400"/>
              </a:spcAft>
            </a:pPr>
            <a:r>
              <a:rPr lang="pt-PT" sz="15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00" b="1">
                <a:solidFill>
                  <a:srgbClr val="38BDF8"/>
                </a:solidFill>
                <a:latin typeface="Segoe UI" panose="020B0502040204020203" pitchFamily="34" charset="0"/>
              </a:rPr>
              <a:t>Os rotulos nunca mentem</a:t>
            </a:r>
            <a:r>
              <a:rPr lang="pt-PT" sz="1500">
                <a:solidFill>
                  <a:srgbClr val="C9D5EA"/>
                </a:solidFill>
                <a:latin typeface="Segoe UI" panose="020B0502040204020203" pitchFamily="34" charset="0"/>
              </a:rPr>
              <a:t> - uma avaliacao colada nao aparece como vinda da nuvem.</a:t>
            </a:r>
          </a:p>
          <a:p>
            <a:pPr>
              <a:spcAft>
                <a:spcPts val="1400"/>
              </a:spcAft>
            </a:pPr>
            <a:r>
              <a:rPr lang="pt-PT" sz="1500">
                <a:solidFill>
                  <a:srgbClr val="C9D5EA"/>
                </a:solidFill>
                <a:latin typeface="Segoe UI" panose="020B0502040204020203" pitchFamily="34" charset="0"/>
              </a:rPr>
              <a:t>•  Persistido em Respostas.Juiz1Origem / Juiz2Origem (migracao DatabaseSchemaInitializer).</a:t>
            </a:r>
          </a:p>
          <a:p>
            <a:pPr>
              <a:spcAft>
                <a:spcPts val="1400"/>
              </a:spcAft>
            </a:pPr>
            <a:r>
              <a:rPr lang="pt-PT" sz="1500">
                <a:solidFill>
                  <a:srgbClr val="C9D5EA"/>
                </a:solidFill>
                <a:latin typeface="Segoe UI" panose="020B0502040204020203" pitchFamily="34" charset="0"/>
              </a:rPr>
              <a:t>•  Usado em grelhas, formulario, detalhe, botoes de traducao e exportacao PDF.</a:t>
            </a:r>
          </a:p>
        </p:txBody>
      </p:sp>
    </p:spTree>
    <p:extLst>
      <p:ext uri="{BB962C8B-B14F-4D97-AF65-F5344CB8AC3E}">
        <p14:creationId xmlns:p14="http://schemas.microsoft.com/office/powerpoint/2010/main" val="19136845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gallery dir="l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9E39F37-5DFA-6086-691F-8C45329247D5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Camada de servicos (1 / 2)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0ECF6C5-62A8-B299-A55B-DD6BA535B376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A2B2D98-4C72-5E8F-F83C-9917A0ABE27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4A35BE9-03F4-4B5A-078C-00877FDA14AD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33C826C-DD05-7A33-0F0A-B49C5DAC9A98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19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AC54DC7-3E3D-A764-4583-362E8350214A}"/>
              </a:ext>
            </a:extLst>
          </p:cNvPr>
          <p:cNvSpPr txBox="1"/>
          <p:nvPr/>
        </p:nvSpPr>
        <p:spPr>
          <a:xfrm>
            <a:off x="762000" y="1498600"/>
            <a:ext cx="10668000" cy="457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OllamaGpuService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/api/tags, /api/ps e /api/show; compatibilidade GPU e contexto efetivo automatico.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ChatComposerService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payload do chat: historico, temperatura, num_predict, num_ctx e think; extrai o SUMMARY.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ScoreCalculator / JudgeScoreWeights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score ponderado das 12 metricas (HaloEffect peso 0, renormalizacao).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AutomatedJudgeService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juizes Gemini e OpenRouter em paralelo, quota de 60 s e temperatura fixa em 0.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TranslationService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traducao de feedbacks com cadeia OpenRouter -&gt; Gemini -&gt; Ollama (temperature 0).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LocalAnalysisService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analise 100% local em C#, sem LLM, totalmente localizada (PT/EN).</a:t>
            </a:r>
          </a:p>
        </p:txBody>
      </p:sp>
    </p:spTree>
    <p:extLst>
      <p:ext uri="{BB962C8B-B14F-4D97-AF65-F5344CB8AC3E}">
        <p14:creationId xmlns:p14="http://schemas.microsoft.com/office/powerpoint/2010/main" val="21751520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gallery dir="r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C5313A2-8061-0EC3-006D-2762EF8E7948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Camada de servicos (2 / 2)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F7CDEA3-841E-AA1B-2EE2-89D74385545B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1325348-1D23-2272-B244-28A6F067973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7BBC82D-22B5-CFDC-F8F3-BD1134A05553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CA23B17-9186-2681-2597-102EA93F8D34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20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87DA424-C124-AB9F-D97E-61061F4A6970}"/>
              </a:ext>
            </a:extLst>
          </p:cNvPr>
          <p:cNvSpPr txBox="1"/>
          <p:nvPr/>
        </p:nvSpPr>
        <p:spPr>
          <a:xfrm>
            <a:off x="762000" y="1498600"/>
            <a:ext cx="10668000" cy="457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PromptThemeClassifier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tema do prompt (Factual, Criativo, Conversacional, Codigo, Seguranca) para contextualizar o juiz.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JudgeLanguageGuard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limita Language Consistency a &lt;=2 quando a resposta esta noutra lingua.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EvaluationParser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parse de *_SCORE, FINAL_SCORE, DESCRIPTION/FEEDBACK, RECOMMENDATION e REFUSAL_HANDLED.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MessageFormatter (6 ficheiros partial)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pipeline de markdown: rescata fences, reconstrui tabelas, Markdig.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PromptFilesService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leitura/gravacao de Prompts/*.txt com protecao anti-path-traversal.</a:t>
            </a:r>
          </a:p>
          <a:p>
            <a:pPr>
              <a:spcAft>
                <a:spcPts val="1600"/>
              </a:spcAft>
            </a:pP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550" b="1">
                <a:solidFill>
                  <a:srgbClr val="38BDF8"/>
                </a:solidFill>
                <a:latin typeface="Segoe UI" panose="020B0502040204020203" pitchFamily="34" charset="0"/>
              </a:rPr>
              <a:t>ConversationRepository</a:t>
            </a:r>
            <a:r>
              <a:rPr lang="pt-PT" sz="1550">
                <a:solidFill>
                  <a:srgbClr val="C9D5EA"/>
                </a:solidFill>
                <a:latin typeface="Segoe UI" panose="020B0502040204020203" pitchFamily="34" charset="0"/>
              </a:rPr>
              <a:t> - conversas em SQLite com export/import JSON; OllamaChecker e InternetConnectivityService.</a:t>
            </a:r>
          </a:p>
        </p:txBody>
      </p:sp>
    </p:spTree>
    <p:extLst>
      <p:ext uri="{BB962C8B-B14F-4D97-AF65-F5344CB8AC3E}">
        <p14:creationId xmlns:p14="http://schemas.microsoft.com/office/powerpoint/2010/main" val="22023933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conveyor dir="l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A31BB71-DF6B-207C-360E-A3254A27DE55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Integracao com o Ollama - endpoints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461C7B6-0E8D-6B8C-5767-32CB5AF65523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996EBEC-499F-27F1-A815-744F7DAFE03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5F09D82-CA08-AC0D-D11A-E130F3DE6179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45F9C36-1B0F-237B-AF5D-929E58070588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21 / 25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C0263DC8-15F4-92E3-3F6E-FB83DCC245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129147"/>
              </p:ext>
            </p:extLst>
          </p:nvPr>
        </p:nvGraphicFramePr>
        <p:xfrm>
          <a:off x="762000" y="1422400"/>
          <a:ext cx="10668000" cy="3759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344061307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25571836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73084381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pt-PT" sz="12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Endpoint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Servico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Uso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91353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GET /api/tags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OllamaGpuService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Lista de modelos locais (Home, Modelos)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198258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POST /api/show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OllamaGpuService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Contexto nativo, ano de treino, capabilities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02214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GET /api/ps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OllamaGpuService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Modelos em memoria (VRAM) para o contexto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734382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POST /api/chat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Chat / TranslationService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Streaming NDJSON e traducao local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18649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POST /api/generate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Chat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Descarregar modelo (keep_alive=0)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23915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GET / (health)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OllamaChecker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Verificacao de que o Ollama esta ativo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5542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fr-FR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POST openrouter.ai/api/v1/chat/completions</a:t>
                      </a:r>
                      <a:endParaRPr lang="pt-PT" sz="1100" b="1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Juizes / Traducao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Servico externo (HTTPS)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30281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PT" sz="110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POST generativelanguage.googleapis.com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Juizes / Traducao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0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Servico externo (HTTPS)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0241565"/>
                  </a:ext>
                </a:extLst>
              </a:tr>
            </a:tbl>
          </a:graphicData>
        </a:graphic>
      </p:graphicFrame>
      <p:sp>
        <p:nvSpPr>
          <p:cNvPr id="8" name="CaixaDeTexto 7">
            <a:extLst>
              <a:ext uri="{FF2B5EF4-FFF2-40B4-BE49-F238E27FC236}">
                <a16:creationId xmlns:a16="http://schemas.microsoft.com/office/drawing/2014/main" id="{1486E95B-F4AE-CED3-D8FA-B4EA16E898A7}"/>
              </a:ext>
            </a:extLst>
          </p:cNvPr>
          <p:cNvSpPr txBox="1"/>
          <p:nvPr/>
        </p:nvSpPr>
        <p:spPr>
          <a:xfrm>
            <a:off x="762000" y="5715000"/>
            <a:ext cx="10668000" cy="4572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250">
                <a:solidFill>
                  <a:srgbClr val="8C9EB8"/>
                </a:solidFill>
                <a:latin typeface="Segoe UI" panose="020B0502040204020203" pitchFamily="34" charset="0"/>
              </a:rPr>
              <a:t>Os seis primeiros usam Ollama:BaseUrl (default http://localhost:11434); os dois do meio sao externos (HTTPS).</a:t>
            </a:r>
          </a:p>
        </p:txBody>
      </p:sp>
    </p:spTree>
    <p:extLst>
      <p:ext uri="{BB962C8B-B14F-4D97-AF65-F5344CB8AC3E}">
        <p14:creationId xmlns:p14="http://schemas.microsoft.com/office/powerpoint/2010/main" val="8422696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conveyor dir="r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672DBB5-EF14-BA3A-2FB5-2C181866780B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Streaming, contexto e temperatura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DF09C33-CAC5-C12C-D0B2-B88893CD696F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E25E638-55CF-A57E-EC30-65ED4BC4327A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BF5FEDD-7F2B-C9F8-5CCD-B3CEA1FB69E8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54EC72A-0A71-C5B6-3546-20A3C547B04F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22 / 25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2DF759D2-3828-D2AA-276B-7E1B2D9FBE8A}"/>
              </a:ext>
            </a:extLst>
          </p:cNvPr>
          <p:cNvSpPr/>
          <p:nvPr/>
        </p:nvSpPr>
        <p:spPr>
          <a:xfrm>
            <a:off x="762000" y="1422400"/>
            <a:ext cx="5207000" cy="3810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AC66CB8-D242-E366-5195-29A842847D62}"/>
              </a:ext>
            </a:extLst>
          </p:cNvPr>
          <p:cNvSpPr txBox="1"/>
          <p:nvPr/>
        </p:nvSpPr>
        <p:spPr>
          <a:xfrm>
            <a:off x="990600" y="1574800"/>
            <a:ext cx="4749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Contexto efetivo (num_ctx)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5B90D99-2EC4-C9CC-C283-307A9806B9EB}"/>
              </a:ext>
            </a:extLst>
          </p:cNvPr>
          <p:cNvSpPr txBox="1"/>
          <p:nvPr/>
        </p:nvSpPr>
        <p:spPr>
          <a:xfrm>
            <a:off x="990600" y="2057400"/>
            <a:ext cx="4749800" cy="292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VRAM livre: nvidia-smi -&gt; WMI -&gt; 0.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Footprint: size_vram do /api/ps ou size x 1.2.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KV cache por token pela arquitetura do modelo.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clamp((VRAM - footprint - 350 MB - 10%) / KV; 1024..32768).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Sem detecao de VRAM -&gt; fallback seguro 2048.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79B1C33B-1438-C7BA-E5A7-179F0445C015}"/>
              </a:ext>
            </a:extLst>
          </p:cNvPr>
          <p:cNvSpPr/>
          <p:nvPr/>
        </p:nvSpPr>
        <p:spPr>
          <a:xfrm>
            <a:off x="6223000" y="1422400"/>
            <a:ext cx="5207000" cy="3810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BC70DEF-185F-C722-197B-D721F6E0465D}"/>
              </a:ext>
            </a:extLst>
          </p:cNvPr>
          <p:cNvSpPr txBox="1"/>
          <p:nvPr/>
        </p:nvSpPr>
        <p:spPr>
          <a:xfrm>
            <a:off x="6451600" y="1574800"/>
            <a:ext cx="4749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Temperatura automatica (0.10-0.90)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3F03966-28BC-2FB2-0381-A72A0ED0D832}"/>
              </a:ext>
            </a:extLst>
          </p:cNvPr>
          <p:cNvSpPr txBox="1"/>
          <p:nvPr/>
        </p:nvSpPr>
        <p:spPr>
          <a:xfrm>
            <a:off x="6451600" y="2057400"/>
            <a:ext cx="4749800" cy="292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Deteta codigo, frases e termos factuais/criativos (PT+EN).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Densidade de perguntas da boost factual.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Faixas: 0.10 factual forte ... 0.90 criativo forte.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num_predict 1800 (GPU) / 1200 (CPU), limitado pelo contexto.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repeat_penalty 1.1; top_k/top_p conforme a temperatura.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58E496F-EC8F-2953-92CC-B9B7D27F6B7C}"/>
              </a:ext>
            </a:extLst>
          </p:cNvPr>
          <p:cNvSpPr/>
          <p:nvPr/>
        </p:nvSpPr>
        <p:spPr>
          <a:xfrm>
            <a:off x="762000" y="5384800"/>
            <a:ext cx="10668000" cy="8128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F651B9E-163D-0BC9-E1F1-F4E70BD626C0}"/>
              </a:ext>
            </a:extLst>
          </p:cNvPr>
          <p:cNvSpPr txBox="1"/>
          <p:nvPr/>
        </p:nvSpPr>
        <p:spPr>
          <a:xfrm>
            <a:off x="990600" y="5588000"/>
            <a:ext cx="10210800" cy="508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Cliente "Ollama" com timeout de 10 min; historico aparado a 60%; metricas de benchmark gravadas no fim de cada troca.</a:t>
            </a:r>
          </a:p>
        </p:txBody>
      </p:sp>
    </p:spTree>
    <p:extLst>
      <p:ext uri="{BB962C8B-B14F-4D97-AF65-F5344CB8AC3E}">
        <p14:creationId xmlns:p14="http://schemas.microsoft.com/office/powerpoint/2010/main" val="38302443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vortex dir="d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1B99F15-C70A-78E9-0A30-00BD3CE38AC3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Base de dados - SQLite (7 tabelas)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0ED041A-079D-D083-A322-C3C5A85CD851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E31E42E-C579-AD67-A36B-854EA540F6A1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8596399-3305-8BC3-6D8C-0C437D40CDEF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DAF2561-B9A9-E3BC-6DE6-C8886EC30D1F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23 / 25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FC98C32F-1325-5297-D088-D43DB1FA2A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24111"/>
              </p:ext>
            </p:extLst>
          </p:nvPr>
        </p:nvGraphicFramePr>
        <p:xfrm>
          <a:off x="762000" y="1422400"/>
          <a:ext cx="10668000" cy="3505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1733331501"/>
                    </a:ext>
                  </a:extLst>
                </a:gridCol>
                <a:gridCol w="8128000">
                  <a:extLst>
                    <a:ext uri="{9D8B030D-6E8A-4147-A177-3AD203B41FA5}">
                      <a16:colId xmlns:a16="http://schemas.microsoft.com/office/drawing/2014/main" val="104137811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Tabela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2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Conteudo principal</a:t>
                      </a:r>
                    </a:p>
                  </a:txBody>
                  <a:tcPr marL="101600" marR="101600" marT="38100" marB="38100" anchor="ctr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53465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Prompts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Id, Descricao, TextoPrompt, DataCriacao, Temperatura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40452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Respostas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Modelo, metricas de velocidade, 12 notas + feedbacks por juiz, origem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188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Conversas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Id, Titulo (primeiros 60 chars), NomeModelo, datas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09600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ConversaMensagens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ConversationId, Role, Content, Reasoning, Temperature, ElapsedTime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4698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Configuracoes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Chave/Valor - chaves dos juizes, modelo OpenRouter, reasoning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40195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ModelosJuiz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Tabela legada de modelos ":free" do OpenRouter (sem uso pela UI)</a:t>
                      </a:r>
                    </a:p>
                  </a:txBody>
                  <a:tcPr marL="101600" marR="101600" marT="38100" marB="38100" anchor="ctr">
                    <a:solidFill>
                      <a:srgbClr val="1837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14996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pt-PT" sz="1150" b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Logs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1150" b="0">
                          <a:solidFill>
                            <a:srgbClr val="C9D5EA"/>
                          </a:solidFill>
                          <a:latin typeface="Segoe UI" panose="020B0502040204020203" pitchFamily="34" charset="0"/>
                        </a:rPr>
                        <a:t>Serilog - Timestamp, Level, Exception, RenderedMessage</a:t>
                      </a:r>
                    </a:p>
                  </a:txBody>
                  <a:tcPr marL="101600" marR="101600" marT="38100" marB="38100" anchor="ctr">
                    <a:solidFill>
                      <a:srgbClr val="1129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4672915"/>
                  </a:ext>
                </a:extLst>
              </a:tr>
            </a:tbl>
          </a:graphicData>
        </a:graphic>
      </p:graphicFrame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3FE44CB5-186E-C61F-D947-CFDFAD801E4C}"/>
              </a:ext>
            </a:extLst>
          </p:cNvPr>
          <p:cNvSpPr/>
          <p:nvPr/>
        </p:nvSpPr>
        <p:spPr>
          <a:xfrm>
            <a:off x="762000" y="5283200"/>
            <a:ext cx="10668000" cy="9144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7D4094D-4A65-0360-6799-050592008E3A}"/>
              </a:ext>
            </a:extLst>
          </p:cNvPr>
          <p:cNvSpPr txBox="1"/>
          <p:nvPr/>
        </p:nvSpPr>
        <p:spPr>
          <a:xfrm>
            <a:off x="990600" y="5435600"/>
            <a:ext cx="10210800" cy="660400"/>
          </a:xfrm>
          <a:prstGeom prst="rect">
            <a:avLst/>
          </a:prstGeom>
          <a:noFill/>
        </p:spPr>
        <p:txBody>
          <a:bodyPr vert="horz" wrap="square" rtlCol="0" anchor="t">
            <a:noAutofit/>
          </a:bodyPr>
          <a:lstStyle/>
          <a:p>
            <a:r>
              <a:rPr lang="pt-PT" sz="1250">
                <a:solidFill>
                  <a:srgbClr val="C9D5EA"/>
                </a:solidFill>
                <a:latin typeface="Segoe UI" panose="020B0502040204020203" pitchFamily="34" charset="0"/>
              </a:rPr>
              <a:t>Sem migracoes classicas - DatabaseSchemaInitializer cria as 7 tabelas e migra colunas no arranque (PRAGMA table_info), com ON DELETE CASCADE ativo. Caminho: OllamaArena/ollama_benchmark.db (gitignored).</a:t>
            </a:r>
          </a:p>
        </p:txBody>
      </p:sp>
    </p:spTree>
    <p:extLst>
      <p:ext uri="{BB962C8B-B14F-4D97-AF65-F5344CB8AC3E}">
        <p14:creationId xmlns:p14="http://schemas.microsoft.com/office/powerpoint/2010/main" val="4645537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switch dir="l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231AC73F-2C76-F48B-9329-B3F167DC60B3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Persistencia no browser e JS interop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021CF7E-16CA-C71B-19D5-D6261DD274D8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071D97D-26D4-16CA-8C6A-10FEA4374E8D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72256B2-5022-F474-E695-0232DBE31099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0B90169-B68F-875A-FFB2-D7762FAB106A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24 / 25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5215A86F-33D2-39D1-4A5E-682017119716}"/>
              </a:ext>
            </a:extLst>
          </p:cNvPr>
          <p:cNvSpPr/>
          <p:nvPr/>
        </p:nvSpPr>
        <p:spPr>
          <a:xfrm>
            <a:off x="762000" y="1422400"/>
            <a:ext cx="5207000" cy="3937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9A32826-74F0-5AE6-0DF0-1B8CC112F508}"/>
              </a:ext>
            </a:extLst>
          </p:cNvPr>
          <p:cNvSpPr txBox="1"/>
          <p:nvPr/>
        </p:nvSpPr>
        <p:spPr>
          <a:xfrm>
            <a:off x="990600" y="1574800"/>
            <a:ext cx="4749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localStorage / sessionStorage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6FFF1DF-7E22-467C-5410-77C2C4347139}"/>
              </a:ext>
            </a:extLst>
          </p:cNvPr>
          <p:cNvSpPr txBox="1"/>
          <p:nvPr/>
        </p:nvSpPr>
        <p:spPr>
          <a:xfrm>
            <a:off x="990600" y="2057400"/>
            <a:ext cx="4749800" cy="304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ollamaModels - nomes dos modelos locais.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ollamaModelsFullV2 - metadados (contexto, ano, thinking).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ollama_model - modelo selecionado no chat.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theme - tema FluentUI; ollamaCacheCleared - flag de sessao.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Juizes NAO usam localStorage - ficam em Configuracoes (BD).</a:t>
            </a:r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CE57088E-2B79-42FD-22E4-D9C3F4C82575}"/>
              </a:ext>
            </a:extLst>
          </p:cNvPr>
          <p:cNvSpPr/>
          <p:nvPr/>
        </p:nvSpPr>
        <p:spPr>
          <a:xfrm>
            <a:off x="6223000" y="1422400"/>
            <a:ext cx="5207000" cy="39370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00CD1D7-6C8B-6566-B111-1CE8F8444695}"/>
              </a:ext>
            </a:extLst>
          </p:cNvPr>
          <p:cNvSpPr txBox="1"/>
          <p:nvPr/>
        </p:nvSpPr>
        <p:spPr>
          <a:xfrm>
            <a:off x="6451600" y="1574800"/>
            <a:ext cx="4749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JS interop (wwwroot/js/)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2DB9B09-AA8E-9FD6-D354-F1C609FD47A8}"/>
              </a:ext>
            </a:extLst>
          </p:cNvPr>
          <p:cNvSpPr txBox="1"/>
          <p:nvPr/>
        </p:nvSpPr>
        <p:spPr>
          <a:xfrm>
            <a:off x="6451600" y="2057400"/>
            <a:ext cx="4749800" cy="304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graficos.js - benchmarkCharts (barras/radares) e download.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excel.js - download do Excel via fetch + Blob.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pdf.js - relatorio PDF com fontes TTF embebidas.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chat.js, clipboard.js e conversations.js - chat e JSON.</a:t>
            </a:r>
          </a:p>
          <a:p>
            <a:pPr>
              <a:spcAft>
                <a:spcPts val="1200"/>
              </a:spcAft>
            </a:pPr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•  markdown-anchors.js e viewport.js - ancoras e splitter.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824BC6AC-D556-B4A4-1DE7-A22FBB194328}"/>
              </a:ext>
            </a:extLst>
          </p:cNvPr>
          <p:cNvSpPr/>
          <p:nvPr/>
        </p:nvSpPr>
        <p:spPr>
          <a:xfrm>
            <a:off x="762000" y="5511800"/>
            <a:ext cx="10668000" cy="6858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3662204-127F-CA25-F03D-56969FA27741}"/>
              </a:ext>
            </a:extLst>
          </p:cNvPr>
          <p:cNvSpPr txBox="1"/>
          <p:nvPr/>
        </p:nvSpPr>
        <p:spPr>
          <a:xfrm>
            <a:off x="990600" y="5689600"/>
            <a:ext cx="10210800" cy="381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300">
                <a:solidFill>
                  <a:srgbClr val="C9D5EA"/>
                </a:solidFill>
                <a:latin typeface="Segoe UI" panose="020B0502040204020203" pitchFamily="34" charset="0"/>
              </a:rPr>
              <a:t>As definicoes dos juizes vivem na BD (tabela Configuracoes) com prioridade BD -&gt; configuracao -&gt; default.</a:t>
            </a:r>
          </a:p>
        </p:txBody>
      </p:sp>
    </p:spTree>
    <p:extLst>
      <p:ext uri="{BB962C8B-B14F-4D97-AF65-F5344CB8AC3E}">
        <p14:creationId xmlns:p14="http://schemas.microsoft.com/office/powerpoint/2010/main" val="42108356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switch dir="r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B1E3D"/>
            </a:gs>
            <a:gs pos="100000">
              <a:srgbClr val="142F5C"/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4E224D6-2014-59BD-9A73-851C0EBF5822}"/>
              </a:ext>
            </a:extLst>
          </p:cNvPr>
          <p:cNvSpPr txBox="1"/>
          <p:nvPr/>
        </p:nvSpPr>
        <p:spPr>
          <a:xfrm>
            <a:off x="762000" y="381000"/>
            <a:ext cx="10668000" cy="5588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Logging, configuracao e deploy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4DBB5C4-2DD0-0366-AE7E-523C50E07649}"/>
              </a:ext>
            </a:extLst>
          </p:cNvPr>
          <p:cNvSpPr/>
          <p:nvPr/>
        </p:nvSpPr>
        <p:spPr>
          <a:xfrm>
            <a:off x="762000" y="1041400"/>
            <a:ext cx="1219200" cy="635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43E99A9-FA57-2809-8E7B-87614C41B96F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DE56E1C-F309-3FB4-F77C-3729D0B85A1F}"/>
              </a:ext>
            </a:extLst>
          </p:cNvPr>
          <p:cNvSpPr txBox="1"/>
          <p:nvPr/>
        </p:nvSpPr>
        <p:spPr>
          <a:xfrm>
            <a:off x="508000" y="6400800"/>
            <a:ext cx="4318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OllamaArena - Funcionalidades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95AB575-7F46-2D0A-942D-3D193E9B8C3D}"/>
              </a:ext>
            </a:extLst>
          </p:cNvPr>
          <p:cNvSpPr txBox="1"/>
          <p:nvPr/>
        </p:nvSpPr>
        <p:spPr>
          <a:xfrm>
            <a:off x="7874000" y="6400800"/>
            <a:ext cx="381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200">
                <a:solidFill>
                  <a:srgbClr val="8C9EB8"/>
                </a:solidFill>
                <a:latin typeface="Segoe UI" panose="020B0502040204020203" pitchFamily="34" charset="0"/>
              </a:rPr>
              <a:t>25 / 25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D9B7EA1-845F-243B-9D09-CEC76B7DE28B}"/>
              </a:ext>
            </a:extLst>
          </p:cNvPr>
          <p:cNvSpPr txBox="1"/>
          <p:nvPr/>
        </p:nvSpPr>
        <p:spPr>
          <a:xfrm>
            <a:off x="762000" y="1524000"/>
            <a:ext cx="10668000" cy="381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Serilog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console + sink SQLite (tabela Logs), nivel minimo Warning; consulta e filtro em /system-logs.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Configuracao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appsettings.json + appsettings.Local.json; chaves recomendadas na pagina Settings (BD).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Localizacao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PT por defeito + EN por cookie; respostas, traducoes e analise seguem a lingua da sessao.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Testes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- 410 testes xUnit em 31 classes (OllamaArena.Tests); validacao = build + testes + execucao manual.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Deploy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GitHub Actions publica e faz deploy em IIS (self-hosted), preservando a BD; smoke test HTTP 200.</a:t>
            </a:r>
          </a:p>
          <a:p>
            <a:pPr>
              <a:spcAft>
                <a:spcPts val="1800"/>
              </a:spcAft>
            </a:pP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•  </a:t>
            </a:r>
            <a:r>
              <a:rPr lang="pt-PT" sz="1600" b="1">
                <a:solidFill>
                  <a:srgbClr val="38BDF8"/>
                </a:solidFill>
                <a:latin typeface="Segoe UI" panose="020B0502040204020203" pitchFamily="34" charset="0"/>
              </a:rPr>
              <a:t>Runtime</a:t>
            </a:r>
            <a:r>
              <a:rPr lang="pt-PT" sz="1600">
                <a:solidFill>
                  <a:srgbClr val="C9D5EA"/>
                </a:solidFill>
                <a:latin typeface="Segoe UI" panose="020B0502040204020203" pitchFamily="34" charset="0"/>
              </a:rPr>
              <a:t> - "ollama serve" ativo na base Ollama:BaseUrl (default http://localhost:11434).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78BF47AD-3DF3-7BA8-09D1-9F3012D76922}"/>
              </a:ext>
            </a:extLst>
          </p:cNvPr>
          <p:cNvSpPr/>
          <p:nvPr/>
        </p:nvSpPr>
        <p:spPr>
          <a:xfrm>
            <a:off x="762000" y="5384800"/>
            <a:ext cx="10668000" cy="812800"/>
          </a:xfrm>
          <a:prstGeom prst="roundRect">
            <a:avLst/>
          </a:prstGeom>
          <a:solidFill>
            <a:srgbClr val="142F5C"/>
          </a:solidFill>
          <a:ln w="1270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EB278F6-CD81-8B92-EE1B-928E4FD92C23}"/>
              </a:ext>
            </a:extLst>
          </p:cNvPr>
          <p:cNvSpPr txBox="1"/>
          <p:nvPr/>
        </p:nvSpPr>
        <p:spPr>
          <a:xfrm>
            <a:off x="990600" y="5588000"/>
            <a:ext cx="10210800" cy="508000"/>
          </a:xfrm>
          <a:prstGeom prst="rect">
            <a:avLst/>
          </a:prstGeom>
          <a:noFill/>
        </p:spPr>
        <p:txBody>
          <a:bodyPr vert="horz" wrap="square" rtlCol="0" anchor="ctr">
            <a:noAutofit/>
          </a:bodyPr>
          <a:lstStyle/>
          <a:p>
            <a:r>
              <a:rPr lang="pt-PT" sz="1350">
                <a:solidFill>
                  <a:srgbClr val="C9D5EA"/>
                </a:solidFill>
                <a:latin typeface="Segoe UI" panose="020B0502040204020203" pitchFamily="34" charset="0"/>
              </a:rPr>
              <a:t>Fonte desta apresentacao: OllamaArena/Docs/Funcionalidades.md - regenerar com gerar_funcionalidades.ps1.</a:t>
            </a:r>
          </a:p>
        </p:txBody>
      </p:sp>
    </p:spTree>
    <p:extLst>
      <p:ext uri="{BB962C8B-B14F-4D97-AF65-F5344CB8AC3E}">
        <p14:creationId xmlns:p14="http://schemas.microsoft.com/office/powerpoint/2010/main" val="32530095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glitter dir="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3346</Words>
  <Application>Microsoft Office PowerPoint</Application>
  <PresentationFormat>Personalizados</PresentationFormat>
  <Paragraphs>364</Paragraphs>
  <Slides>25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Segoe UI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Fausto Luis</dc:creator>
  <cp:lastModifiedBy>Fausto Luis</cp:lastModifiedBy>
  <cp:revision>1</cp:revision>
  <dcterms:created xsi:type="dcterms:W3CDTF">2026-10-13T08:22:52Z</dcterms:created>
  <dcterms:modified xsi:type="dcterms:W3CDTF">2026-10-13T08:22:52Z</dcterms:modified>
</cp:coreProperties>
</file>